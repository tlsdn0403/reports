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9144000"/>
  <p:defaultTextStyle>
    <a:defPPr>
      <a:defRPr lang="ko-KR">
        <a:latin typeface="Malgun Gothic"/>
        <a:ea typeface="Malgun Gothic"/>
      </a:defRPr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09600" y="552450"/>
            <a:ext cx="30480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600" b="1">
                <a:solidFill>
                  <a:srgbClr val="111111"/>
                </a:solidFill>
                <a:latin typeface="Malgun Gothic"/>
                <a:ea typeface="Malgun Gothic"/>
              </a:rPr>
              <a:t>CLIENT DEVELOPER</a:t>
            </a:r>
            <a:endParaRPr lang="ko-KR" sz="1600"/>
          </a:p>
        </p:txBody>
      </p:sp>
      <p:sp>
        <p:nvSpPr>
          <p:cNvPr id="3" name="cover-title"/>
          <p:cNvSpPr txBox="1"/>
          <p:nvPr/>
        </p:nvSpPr>
        <p:spPr>
          <a:xfrm>
            <a:off x="609600" y="1066800"/>
            <a:ext cx="57150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5600" b="1">
                <a:solidFill>
                  <a:srgbClr val="111111"/>
                </a:solidFill>
                <a:latin typeface="Malgun Gothic"/>
                <a:ea typeface="Malgun Gothic"/>
              </a:rPr>
              <a:t>[이름]</a:t>
            </a:r>
            <a:endParaRPr lang="ko-KR" sz="5600"/>
          </a:p>
          <a:p>
            <a:pPr algn="l"/>
            <a:r>
              <a:rPr lang="ko-KR" sz="5600" b="1">
                <a:solidFill>
                  <a:srgbClr val="111111"/>
                </a:solidFill>
                <a:latin typeface="Malgun Gothic"/>
                <a:ea typeface="Malgun Gothic"/>
              </a:rPr>
              <a:t>Portfolio</a:t>
            </a:r>
            <a:endParaRPr lang="ko-KR" sz="5600"/>
          </a:p>
        </p:txBody>
      </p:sp>
      <p:sp>
        <p:nvSpPr>
          <p:cNvPr id="4" name="rule"/>
          <p:cNvSpPr/>
          <p:nvPr/>
        </p:nvSpPr>
        <p:spPr>
          <a:xfrm>
            <a:off x="628650" y="2571750"/>
            <a:ext cx="1562100" cy="47625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  <p:sp>
        <p:nvSpPr>
          <p:cNvPr id="5" name="subtitle"/>
          <p:cNvSpPr txBox="1"/>
          <p:nvPr/>
        </p:nvSpPr>
        <p:spPr>
          <a:xfrm>
            <a:off x="609600" y="2857500"/>
            <a:ext cx="4953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2200">
                <a:solidFill>
                  <a:srgbClr val="5F5F5F"/>
                </a:solidFill>
                <a:latin typeface="Malgun Gothic"/>
                <a:ea typeface="Malgun Gothic"/>
              </a:rPr>
              <a:t>Unity / Unreal 기반 게임 클라이언트 개발자 지원용</a:t>
            </a:r>
            <a:endParaRPr lang="ko-KR" sz="2200"/>
          </a:p>
          <a:p>
            <a:pPr algn="l"/>
            <a:r>
              <a:rPr lang="ko-KR" sz="2200">
                <a:solidFill>
                  <a:srgbClr val="5F5F5F"/>
                </a:solidFill>
                <a:latin typeface="Malgun Gothic"/>
                <a:ea typeface="Malgun Gothic"/>
              </a:rPr>
              <a:t>프로젝트 중심 포트폴리오 템플릿</a:t>
            </a:r>
            <a:endParaRPr lang="ko-KR" sz="2200"/>
          </a:p>
        </p:txBody>
      </p:sp>
      <p:sp>
        <p:nvSpPr>
          <p:cNvPr id="6" name="cover-image"/>
          <p:cNvSpPr/>
          <p:nvPr/>
        </p:nvSpPr>
        <p:spPr>
          <a:xfrm>
            <a:off x="7048500" y="723900"/>
            <a:ext cx="3924300" cy="3924300"/>
          </a:xfrm>
          <a:prstGeom prst="ellipse">
            <a:avLst/>
          </a:prstGeom>
          <a:solidFill>
            <a:srgbClr val="EFE9DC"/>
          </a:solidFill>
          <a:ln w="11430">
            <a:solidFill>
              <a:srgbClr val="D8D2C5"/>
            </a:solidFill>
            <a:prstDash val="dash"/>
          </a:ln>
        </p:spPr>
      </p:sp>
      <p:sp>
        <p:nvSpPr>
          <p:cNvPr id="7" name="cover-image-label"/>
          <p:cNvSpPr txBox="1"/>
          <p:nvPr/>
        </p:nvSpPr>
        <p:spPr>
          <a:xfrm>
            <a:off x="7200900" y="2552700"/>
            <a:ext cx="3619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"/>
            <a:r>
              <a:rPr lang="ko-KR" sz="1600" b="1">
                <a:solidFill>
                  <a:srgbClr val="5F5F5F"/>
                </a:solidFill>
                <a:latin typeface="Malgun Gothic"/>
                <a:ea typeface="Malgun Gothic"/>
              </a:rPr>
              <a:t>[대표 프로젝트 이미지]</a:t>
            </a:r>
            <a:endParaRPr lang="ko-KR" sz="1600"/>
          </a:p>
        </p:txBody>
      </p:sp>
      <p:sp>
        <p:nvSpPr>
          <p:cNvPr id="8" name="chip-Unity"/>
          <p:cNvSpPr txBox="1"/>
          <p:nvPr/>
        </p:nvSpPr>
        <p:spPr>
          <a:xfrm>
            <a:off x="609600" y="4267200"/>
            <a:ext cx="1200150" cy="30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2C5"/>
            </a:solidFill>
          </a:ln>
        </p:spPr>
        <p:txBody>
          <a:bodyPr wrap="square" anchor="ctr" lIns="38100" rIns="38100" tIns="38100" bIns="38100">
            <a:spAutoFit/>
          </a:bodyPr>
          <a:lstStyle/>
          <a:p>
            <a:pPr algn="c"/>
            <a:r>
              <a:rPr lang="ko-KR" sz="1300" b="1">
                <a:solidFill>
                  <a:srgbClr val="111111"/>
                </a:solidFill>
                <a:latin typeface="Malgun Gothic"/>
                <a:ea typeface="Malgun Gothic"/>
              </a:rPr>
              <a:t>Unity</a:t>
            </a:r>
            <a:endParaRPr lang="ko-KR" sz="1300"/>
          </a:p>
        </p:txBody>
      </p:sp>
      <p:sp>
        <p:nvSpPr>
          <p:cNvPr id="9" name="chip-C# / C++"/>
          <p:cNvSpPr txBox="1"/>
          <p:nvPr/>
        </p:nvSpPr>
        <p:spPr>
          <a:xfrm>
            <a:off x="1943100" y="4267200"/>
            <a:ext cx="1200150" cy="30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2C5"/>
            </a:solidFill>
          </a:ln>
        </p:spPr>
        <p:txBody>
          <a:bodyPr wrap="square" anchor="ctr" lIns="38100" rIns="38100" tIns="38100" bIns="38100">
            <a:spAutoFit/>
          </a:bodyPr>
          <a:lstStyle/>
          <a:p>
            <a:pPr algn="c"/>
            <a:r>
              <a:rPr lang="ko-KR" sz="1300" b="1">
                <a:solidFill>
                  <a:srgbClr val="111111"/>
                </a:solidFill>
                <a:latin typeface="Malgun Gothic"/>
                <a:ea typeface="Malgun Gothic"/>
              </a:rPr>
              <a:t>C# / C++</a:t>
            </a:r>
            <a:endParaRPr lang="ko-KR" sz="1300"/>
          </a:p>
        </p:txBody>
      </p:sp>
      <p:sp>
        <p:nvSpPr>
          <p:cNvPr id="10" name="chip-Gameplay"/>
          <p:cNvSpPr txBox="1"/>
          <p:nvPr/>
        </p:nvSpPr>
        <p:spPr>
          <a:xfrm>
            <a:off x="3276600" y="4267200"/>
            <a:ext cx="1504950" cy="30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2C5"/>
            </a:solidFill>
          </a:ln>
        </p:spPr>
        <p:txBody>
          <a:bodyPr wrap="square" anchor="ctr" lIns="38100" rIns="38100" tIns="38100" bIns="38100">
            <a:spAutoFit/>
          </a:bodyPr>
          <a:lstStyle/>
          <a:p>
            <a:pPr algn="c"/>
            <a:r>
              <a:rPr lang="ko-KR" sz="1300" b="1">
                <a:solidFill>
                  <a:srgbClr val="111111"/>
                </a:solidFill>
                <a:latin typeface="Malgun Gothic"/>
                <a:ea typeface="Malgun Gothic"/>
              </a:rPr>
              <a:t>Gameplay</a:t>
            </a:r>
            <a:endParaRPr lang="ko-KR" sz="1300"/>
          </a:p>
        </p:txBody>
      </p:sp>
      <p:sp>
        <p:nvSpPr>
          <p:cNvPr id="11" name="chip-UI/UX"/>
          <p:cNvSpPr txBox="1"/>
          <p:nvPr/>
        </p:nvSpPr>
        <p:spPr>
          <a:xfrm>
            <a:off x="4914900" y="4267200"/>
            <a:ext cx="1314450" cy="30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2C5"/>
            </a:solidFill>
          </a:ln>
        </p:spPr>
        <p:txBody>
          <a:bodyPr wrap="square" anchor="ctr" lIns="38100" rIns="38100" tIns="38100" bIns="38100">
            <a:spAutoFit/>
          </a:bodyPr>
          <a:lstStyle/>
          <a:p>
            <a:pPr algn="c"/>
            <a:r>
              <a:rPr lang="ko-KR" sz="1300" b="1">
                <a:solidFill>
                  <a:srgbClr val="111111"/>
                </a:solidFill>
                <a:latin typeface="Malgun Gothic"/>
                <a:ea typeface="Malgun Gothic"/>
              </a:rPr>
              <a:t>UI/UX</a:t>
            </a:r>
            <a:endParaRPr lang="ko-KR" sz="1300"/>
          </a:p>
        </p:txBody>
      </p:sp>
      <p:sp>
        <p:nvSpPr>
          <p:cNvPr id="12" name="contact"/>
          <p:cNvSpPr txBox="1"/>
          <p:nvPr/>
        </p:nvSpPr>
        <p:spPr>
          <a:xfrm>
            <a:off x="609600" y="565785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600" b="1" u="sng">
                <a:solidFill>
                  <a:srgbClr val="0E5AA7"/>
                </a:solidFill>
                <a:latin typeface="Malgun Gothic"/>
                <a:ea typeface="Malgun Gothic"/>
              </a:rPr>
              <a:t>Email  [email@example.com]    GitHub  [github.com/id]    Blog  [blog-url]</a:t>
            </a:r>
            <a:endParaRPr lang="ko-KR" sz="1600"/>
          </a:p>
        </p:txBody>
      </p:sp>
      <p:sp>
        <p:nvSpPr>
          <p:cNvPr id="13" name="date"/>
          <p:cNvSpPr txBox="1"/>
          <p:nvPr/>
        </p:nvSpPr>
        <p:spPr>
          <a:xfrm>
            <a:off x="9810750" y="565785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/>
            <a:r>
              <a:rPr lang="ko-KR" sz="1600" b="1">
                <a:solidFill>
                  <a:srgbClr val="5F5F5F"/>
                </a:solidFill>
                <a:latin typeface="Malgun Gothic"/>
                <a:ea typeface="Malgun Gothic"/>
              </a:rPr>
              <a:t>2026</a:t>
            </a:r>
            <a:endParaRPr lang="ko-KR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09600" y="476250"/>
            <a:ext cx="2476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600" b="1">
                <a:solidFill>
                  <a:srgbClr val="111111"/>
                </a:solidFill>
                <a:latin typeface="Malgun Gothic"/>
                <a:ea typeface="Malgun Gothic"/>
              </a:rPr>
              <a:t>Profile</a:t>
            </a:r>
            <a:endParaRPr lang="ko-KR" sz="1600"/>
          </a:p>
        </p:txBody>
      </p:sp>
      <p:sp>
        <p:nvSpPr>
          <p:cNvPr id="3" name="title"/>
          <p:cNvSpPr txBox="1"/>
          <p:nvPr/>
        </p:nvSpPr>
        <p:spPr>
          <a:xfrm>
            <a:off x="609600" y="819150"/>
            <a:ext cx="6477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4000" b="1">
                <a:solidFill>
                  <a:srgbClr val="111111"/>
                </a:solidFill>
                <a:latin typeface="Malgun Gothic"/>
                <a:ea typeface="Malgun Gothic"/>
              </a:rPr>
              <a:t>개발자로서의 방향</a:t>
            </a:r>
            <a:endParaRPr lang="ko-KR" sz="4000"/>
          </a:p>
        </p:txBody>
      </p:sp>
      <p:sp>
        <p:nvSpPr>
          <p:cNvPr id="4" name="rule"/>
          <p:cNvSpPr/>
          <p:nvPr/>
        </p:nvSpPr>
        <p:spPr>
          <a:xfrm>
            <a:off x="609600" y="1466850"/>
            <a:ext cx="1219200" cy="38100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  <p:sp>
        <p:nvSpPr>
          <p:cNvPr id="5" name="footer-role"/>
          <p:cNvSpPr txBox="1"/>
          <p:nvPr/>
        </p:nvSpPr>
        <p:spPr>
          <a:xfrm>
            <a:off x="609600" y="6419850"/>
            <a:ext cx="2476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900" b="1">
                <a:solidFill>
                  <a:srgbClr val="5F5F5F"/>
                </a:solidFill>
                <a:latin typeface="Malgun Gothic"/>
                <a:ea typeface="Malgun Gothic"/>
              </a:rPr>
              <a:t>CLIENT DEVELOPER PORTFOLIO</a:t>
            </a:r>
            <a:endParaRPr lang="ko-KR" sz="900"/>
          </a:p>
        </p:txBody>
      </p:sp>
      <p:sp>
        <p:nvSpPr>
          <p:cNvPr id="6" name="footer-page"/>
          <p:cNvSpPr txBox="1"/>
          <p:nvPr/>
        </p:nvSpPr>
        <p:spPr>
          <a:xfrm>
            <a:off x="11049000" y="6419850"/>
            <a:ext cx="5334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/>
            <a:r>
              <a:rPr lang="ko-KR" sz="1000" b="1">
                <a:solidFill>
                  <a:srgbClr val="5F5F5F"/>
                </a:solidFill>
                <a:latin typeface="Malgun Gothic"/>
                <a:ea typeface="Malgun Gothic"/>
              </a:rPr>
              <a:t>02</a:t>
            </a:r>
            <a:endParaRPr lang="ko-KR" sz="1000"/>
          </a:p>
        </p:txBody>
      </p:sp>
      <p:sp>
        <p:nvSpPr>
          <p:cNvPr id="7" name="profile-photo"/>
          <p:cNvSpPr/>
          <p:nvPr/>
        </p:nvSpPr>
        <p:spPr>
          <a:xfrm>
            <a:off x="781050" y="2000250"/>
            <a:ext cx="2247900" cy="2247900"/>
          </a:xfrm>
          <a:prstGeom prst="ellipse">
            <a:avLst/>
          </a:prstGeom>
          <a:solidFill>
            <a:srgbClr val="EFE9DC"/>
          </a:solidFill>
          <a:ln w="11430">
            <a:solidFill>
              <a:srgbClr val="D8D2C5"/>
            </a:solidFill>
            <a:prstDash val="dash"/>
          </a:ln>
        </p:spPr>
      </p:sp>
      <p:sp>
        <p:nvSpPr>
          <p:cNvPr id="8" name="profile-photo-label"/>
          <p:cNvSpPr txBox="1"/>
          <p:nvPr/>
        </p:nvSpPr>
        <p:spPr>
          <a:xfrm>
            <a:off x="933450" y="2990850"/>
            <a:ext cx="19431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"/>
            <a:r>
              <a:rPr lang="ko-KR" sz="1600" b="1">
                <a:solidFill>
                  <a:srgbClr val="5F5F5F"/>
                </a:solidFill>
                <a:latin typeface="Malgun Gothic"/>
                <a:ea typeface="Malgun Gothic"/>
              </a:rPr>
              <a:t>[프로필 사진]</a:t>
            </a:r>
            <a:endParaRPr lang="ko-KR" sz="1600"/>
          </a:p>
        </p:txBody>
      </p:sp>
      <p:sp>
        <p:nvSpPr>
          <p:cNvPr id="9" name="profile-name"/>
          <p:cNvSpPr txBox="1"/>
          <p:nvPr/>
        </p:nvSpPr>
        <p:spPr>
          <a:xfrm>
            <a:off x="876300" y="4533900"/>
            <a:ext cx="20955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"/>
            <a:r>
              <a:rPr lang="ko-KR" sz="2400" b="1">
                <a:solidFill>
                  <a:srgbClr val="111111"/>
                </a:solidFill>
                <a:latin typeface="Malgun Gothic"/>
                <a:ea typeface="Malgun Gothic"/>
              </a:rPr>
              <a:t>[이름]</a:t>
            </a:r>
            <a:endParaRPr lang="ko-KR" sz="2400"/>
          </a:p>
        </p:txBody>
      </p:sp>
      <p:sp>
        <p:nvSpPr>
          <p:cNvPr id="10" name="profile-role"/>
          <p:cNvSpPr txBox="1"/>
          <p:nvPr/>
        </p:nvSpPr>
        <p:spPr>
          <a:xfrm>
            <a:off x="723900" y="4895850"/>
            <a:ext cx="24003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게임 클라이언트 개발자</a:t>
            </a:r>
            <a:endParaRPr lang="ko-KR" sz="1500"/>
          </a:p>
          <a:p>
            <a:pPr algn="c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[지원 직무/경력]</a:t>
            </a:r>
            <a:endParaRPr lang="ko-KR" sz="1500"/>
          </a:p>
        </p:txBody>
      </p:sp>
      <p:sp>
        <p:nvSpPr>
          <p:cNvPr id="11" name="intro-title"/>
          <p:cNvSpPr txBox="1"/>
          <p:nvPr/>
        </p:nvSpPr>
        <p:spPr>
          <a:xfrm>
            <a:off x="3962400" y="203835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2400" b="1">
                <a:solidFill>
                  <a:srgbClr val="111111"/>
                </a:solidFill>
                <a:latin typeface="Malgun Gothic"/>
                <a:ea typeface="Malgun Gothic"/>
              </a:rPr>
              <a:t>한 문장 소개</a:t>
            </a:r>
            <a:endParaRPr lang="ko-KR" sz="2400"/>
          </a:p>
        </p:txBody>
      </p:sp>
      <p:sp>
        <p:nvSpPr>
          <p:cNvPr id="12" name="intro-body"/>
          <p:cNvSpPr txBox="1"/>
          <p:nvPr/>
        </p:nvSpPr>
        <p:spPr>
          <a:xfrm>
            <a:off x="3962400" y="2457450"/>
            <a:ext cx="6457950" cy="723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2100">
                <a:solidFill>
                  <a:srgbClr val="111111"/>
                </a:solidFill>
                <a:latin typeface="Malgun Gothic"/>
                <a:ea typeface="Malgun Gothic"/>
              </a:rPr>
              <a:t>플레이어 경험을 기준으로 기능을 설계하고, 구현 결과를 영상/코드/수치로 설명하는 개발자입니다.</a:t>
            </a:r>
            <a:endParaRPr lang="ko-KR" sz="2100"/>
          </a:p>
        </p:txBody>
      </p:sp>
      <p:sp>
        <p:nvSpPr>
          <p:cNvPr id="13" name="card-강점 01"/>
          <p:cNvSpPr/>
          <p:nvPr/>
        </p:nvSpPr>
        <p:spPr>
          <a:xfrm>
            <a:off x="3962400" y="3543300"/>
            <a:ext cx="2095500" cy="13525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2C5"/>
            </a:solidFill>
          </a:ln>
        </p:spPr>
      </p:sp>
      <p:sp>
        <p:nvSpPr>
          <p:cNvPr id="14" name="card-index-강점 01"/>
          <p:cNvSpPr txBox="1"/>
          <p:nvPr/>
        </p:nvSpPr>
        <p:spPr>
          <a:xfrm>
            <a:off x="4171950" y="3733800"/>
            <a:ext cx="5143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800" b="1">
                <a:solidFill>
                  <a:srgbClr val="0E5AA7"/>
                </a:solidFill>
                <a:latin typeface="Malgun Gothic"/>
                <a:ea typeface="Malgun Gothic"/>
              </a:rPr>
              <a:t>01</a:t>
            </a:r>
            <a:endParaRPr lang="ko-KR" sz="1800"/>
          </a:p>
        </p:txBody>
      </p:sp>
      <p:sp>
        <p:nvSpPr>
          <p:cNvPr id="15" name="card-heading-강점 01"/>
          <p:cNvSpPr txBox="1"/>
          <p:nvPr/>
        </p:nvSpPr>
        <p:spPr>
          <a:xfrm>
            <a:off x="4686300" y="3733800"/>
            <a:ext cx="11620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2000" b="1">
                <a:solidFill>
                  <a:srgbClr val="111111"/>
                </a:solidFill>
                <a:latin typeface="Malgun Gothic"/>
                <a:ea typeface="Malgun Gothic"/>
              </a:rPr>
              <a:t>강점 01</a:t>
            </a:r>
            <a:endParaRPr lang="ko-KR" sz="2000"/>
          </a:p>
        </p:txBody>
      </p:sp>
      <p:sp>
        <p:nvSpPr>
          <p:cNvPr id="16" name="card-body-강점 01"/>
          <p:cNvSpPr txBox="1"/>
          <p:nvPr/>
        </p:nvSpPr>
        <p:spPr>
          <a:xfrm>
            <a:off x="4171950" y="4152900"/>
            <a:ext cx="16764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입력, 카메라, 캐릭터 상태 전환 등 플레이 감각과 직접 닿는 시스템 구현</a:t>
            </a:r>
            <a:endParaRPr lang="ko-KR" sz="1500"/>
          </a:p>
        </p:txBody>
      </p:sp>
      <p:sp>
        <p:nvSpPr>
          <p:cNvPr id="17" name="card-강점 02"/>
          <p:cNvSpPr/>
          <p:nvPr/>
        </p:nvSpPr>
        <p:spPr>
          <a:xfrm>
            <a:off x="6248400" y="3543300"/>
            <a:ext cx="2095500" cy="13525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2C5"/>
            </a:solidFill>
          </a:ln>
        </p:spPr>
      </p:sp>
      <p:sp>
        <p:nvSpPr>
          <p:cNvPr id="18" name="card-index-강점 02"/>
          <p:cNvSpPr txBox="1"/>
          <p:nvPr/>
        </p:nvSpPr>
        <p:spPr>
          <a:xfrm>
            <a:off x="6457950" y="3733800"/>
            <a:ext cx="5143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800" b="1">
                <a:solidFill>
                  <a:srgbClr val="0E5AA7"/>
                </a:solidFill>
                <a:latin typeface="Malgun Gothic"/>
                <a:ea typeface="Malgun Gothic"/>
              </a:rPr>
              <a:t>02</a:t>
            </a:r>
            <a:endParaRPr lang="ko-KR" sz="1800"/>
          </a:p>
        </p:txBody>
      </p:sp>
      <p:sp>
        <p:nvSpPr>
          <p:cNvPr id="19" name="card-heading-강점 02"/>
          <p:cNvSpPr txBox="1"/>
          <p:nvPr/>
        </p:nvSpPr>
        <p:spPr>
          <a:xfrm>
            <a:off x="6972300" y="3733800"/>
            <a:ext cx="11620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2000" b="1">
                <a:solidFill>
                  <a:srgbClr val="111111"/>
                </a:solidFill>
                <a:latin typeface="Malgun Gothic"/>
                <a:ea typeface="Malgun Gothic"/>
              </a:rPr>
              <a:t>강점 02</a:t>
            </a:r>
            <a:endParaRPr lang="ko-KR" sz="2000"/>
          </a:p>
        </p:txBody>
      </p:sp>
      <p:sp>
        <p:nvSpPr>
          <p:cNvPr id="20" name="card-body-강점 02"/>
          <p:cNvSpPr txBox="1"/>
          <p:nvPr/>
        </p:nvSpPr>
        <p:spPr>
          <a:xfrm>
            <a:off x="6457950" y="4152900"/>
            <a:ext cx="16764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UI 흐름, 피드백, 사운드 연결처럼 사용자가 체감하는 완성도 개선</a:t>
            </a:r>
            <a:endParaRPr lang="ko-KR" sz="1500"/>
          </a:p>
        </p:txBody>
      </p:sp>
      <p:sp>
        <p:nvSpPr>
          <p:cNvPr id="21" name="card-강점 03"/>
          <p:cNvSpPr/>
          <p:nvPr/>
        </p:nvSpPr>
        <p:spPr>
          <a:xfrm>
            <a:off x="8534400" y="3543300"/>
            <a:ext cx="2095500" cy="13525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2C5"/>
            </a:solidFill>
          </a:ln>
        </p:spPr>
      </p:sp>
      <p:sp>
        <p:nvSpPr>
          <p:cNvPr id="22" name="card-index-강점 03"/>
          <p:cNvSpPr txBox="1"/>
          <p:nvPr/>
        </p:nvSpPr>
        <p:spPr>
          <a:xfrm>
            <a:off x="8743950" y="3733800"/>
            <a:ext cx="5143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800" b="1">
                <a:solidFill>
                  <a:srgbClr val="0E5AA7"/>
                </a:solidFill>
                <a:latin typeface="Malgun Gothic"/>
                <a:ea typeface="Malgun Gothic"/>
              </a:rPr>
              <a:t>03</a:t>
            </a:r>
            <a:endParaRPr lang="ko-KR" sz="1800"/>
          </a:p>
        </p:txBody>
      </p:sp>
      <p:sp>
        <p:nvSpPr>
          <p:cNvPr id="23" name="card-heading-강점 03"/>
          <p:cNvSpPr txBox="1"/>
          <p:nvPr/>
        </p:nvSpPr>
        <p:spPr>
          <a:xfrm>
            <a:off x="9258300" y="3733800"/>
            <a:ext cx="11620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2000" b="1">
                <a:solidFill>
                  <a:srgbClr val="111111"/>
                </a:solidFill>
                <a:latin typeface="Malgun Gothic"/>
                <a:ea typeface="Malgun Gothic"/>
              </a:rPr>
              <a:t>강점 03</a:t>
            </a:r>
            <a:endParaRPr lang="ko-KR" sz="2000"/>
          </a:p>
        </p:txBody>
      </p:sp>
      <p:sp>
        <p:nvSpPr>
          <p:cNvPr id="24" name="card-body-강점 03"/>
          <p:cNvSpPr txBox="1"/>
          <p:nvPr/>
        </p:nvSpPr>
        <p:spPr>
          <a:xfrm>
            <a:off x="8743950" y="4152900"/>
            <a:ext cx="16764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협업 기록, 이슈 정리, 일정 공유를 통해 재현 가능한 개발 과정 유지</a:t>
            </a:r>
            <a:endParaRPr lang="ko-KR"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09600" y="476250"/>
            <a:ext cx="2476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600" b="1">
                <a:solidFill>
                  <a:srgbClr val="111111"/>
                </a:solidFill>
                <a:latin typeface="Malgun Gothic"/>
                <a:ea typeface="Malgun Gothic"/>
              </a:rPr>
              <a:t>Skills</a:t>
            </a:r>
            <a:endParaRPr lang="ko-KR" sz="1600"/>
          </a:p>
        </p:txBody>
      </p:sp>
      <p:sp>
        <p:nvSpPr>
          <p:cNvPr id="3" name="title"/>
          <p:cNvSpPr txBox="1"/>
          <p:nvPr/>
        </p:nvSpPr>
        <p:spPr>
          <a:xfrm>
            <a:off x="609600" y="819150"/>
            <a:ext cx="6477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4000" b="1">
                <a:solidFill>
                  <a:srgbClr val="111111"/>
                </a:solidFill>
                <a:latin typeface="Malgun Gothic"/>
                <a:ea typeface="Malgun Gothic"/>
              </a:rPr>
              <a:t>클라이언트 개발 역량을 한눈에 보이게</a:t>
            </a:r>
            <a:endParaRPr lang="ko-KR" sz="4000"/>
          </a:p>
        </p:txBody>
      </p:sp>
      <p:sp>
        <p:nvSpPr>
          <p:cNvPr id="4" name="rule"/>
          <p:cNvSpPr/>
          <p:nvPr/>
        </p:nvSpPr>
        <p:spPr>
          <a:xfrm>
            <a:off x="609600" y="1466850"/>
            <a:ext cx="1219200" cy="38100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  <p:sp>
        <p:nvSpPr>
          <p:cNvPr id="5" name="footer-role"/>
          <p:cNvSpPr txBox="1"/>
          <p:nvPr/>
        </p:nvSpPr>
        <p:spPr>
          <a:xfrm>
            <a:off x="609600" y="6419850"/>
            <a:ext cx="2476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900" b="1">
                <a:solidFill>
                  <a:srgbClr val="5F5F5F"/>
                </a:solidFill>
                <a:latin typeface="Malgun Gothic"/>
                <a:ea typeface="Malgun Gothic"/>
              </a:rPr>
              <a:t>CLIENT DEVELOPER PORTFOLIO</a:t>
            </a:r>
            <a:endParaRPr lang="ko-KR" sz="900"/>
          </a:p>
        </p:txBody>
      </p:sp>
      <p:sp>
        <p:nvSpPr>
          <p:cNvPr id="6" name="footer-page"/>
          <p:cNvSpPr txBox="1"/>
          <p:nvPr/>
        </p:nvSpPr>
        <p:spPr>
          <a:xfrm>
            <a:off x="11049000" y="6419850"/>
            <a:ext cx="5334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/>
            <a:r>
              <a:rPr lang="ko-KR" sz="1000" b="1">
                <a:solidFill>
                  <a:srgbClr val="5F5F5F"/>
                </a:solidFill>
                <a:latin typeface="Malgun Gothic"/>
                <a:ea typeface="Malgun Gothic"/>
              </a:rPr>
              <a:t>03</a:t>
            </a:r>
            <a:endParaRPr lang="ko-KR" sz="1000"/>
          </a:p>
        </p:txBody>
      </p:sp>
      <p:sp>
        <p:nvSpPr>
          <p:cNvPr id="7" name="table-r0-c0"/>
          <p:cNvSpPr txBox="1"/>
          <p:nvPr/>
        </p:nvSpPr>
        <p:spPr>
          <a:xfrm>
            <a:off x="876300" y="1866900"/>
            <a:ext cx="1619250" cy="400050"/>
          </a:xfrm>
          <a:prstGeom prst="rect">
            <a:avLst/>
          </a:prstGeom>
          <a:solidFill>
            <a:srgbClr val="2E6A2D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400" b="1">
                <a:solidFill>
                  <a:srgbClr val="FFFFFF"/>
                </a:solidFill>
                <a:latin typeface="Malgun Gothic"/>
                <a:ea typeface="Malgun Gothic"/>
              </a:rPr>
              <a:t>영역</a:t>
            </a:r>
            <a:endParaRPr lang="ko-KR" sz="1400"/>
          </a:p>
        </p:txBody>
      </p:sp>
      <p:sp>
        <p:nvSpPr>
          <p:cNvPr id="8" name="table-r0-c1"/>
          <p:cNvSpPr txBox="1"/>
          <p:nvPr/>
        </p:nvSpPr>
        <p:spPr>
          <a:xfrm>
            <a:off x="2495550" y="1866900"/>
            <a:ext cx="3619500" cy="400050"/>
          </a:xfrm>
          <a:prstGeom prst="rect">
            <a:avLst/>
          </a:prstGeom>
          <a:solidFill>
            <a:srgbClr val="2E6A2D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400" b="1">
                <a:solidFill>
                  <a:srgbClr val="FFFFFF"/>
                </a:solidFill>
                <a:latin typeface="Malgun Gothic"/>
                <a:ea typeface="Malgun Gothic"/>
              </a:rPr>
              <a:t>주요 기술</a:t>
            </a:r>
            <a:endParaRPr lang="ko-KR" sz="1400"/>
          </a:p>
        </p:txBody>
      </p:sp>
      <p:sp>
        <p:nvSpPr>
          <p:cNvPr id="9" name="table-r0-c2"/>
          <p:cNvSpPr txBox="1"/>
          <p:nvPr/>
        </p:nvSpPr>
        <p:spPr>
          <a:xfrm>
            <a:off x="6115050" y="1866900"/>
            <a:ext cx="5334000" cy="400050"/>
          </a:xfrm>
          <a:prstGeom prst="rect">
            <a:avLst/>
          </a:prstGeom>
          <a:solidFill>
            <a:srgbClr val="2E6A2D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400" b="1">
                <a:solidFill>
                  <a:srgbClr val="FFFFFF"/>
                </a:solidFill>
                <a:latin typeface="Malgun Gothic"/>
                <a:ea typeface="Malgun Gothic"/>
              </a:rPr>
              <a:t>보여줄 근거</a:t>
            </a:r>
            <a:endParaRPr lang="ko-KR" sz="1400"/>
          </a:p>
        </p:txBody>
      </p:sp>
      <p:sp>
        <p:nvSpPr>
          <p:cNvPr id="10" name="table-r1-c0"/>
          <p:cNvSpPr txBox="1"/>
          <p:nvPr/>
        </p:nvSpPr>
        <p:spPr>
          <a:xfrm>
            <a:off x="876300" y="2266950"/>
            <a:ext cx="1619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400">
                <a:solidFill>
                  <a:srgbClr val="111111"/>
                </a:solidFill>
                <a:latin typeface="Malgun Gothic"/>
                <a:ea typeface="Malgun Gothic"/>
              </a:rPr>
              <a:t>Engine</a:t>
            </a:r>
            <a:endParaRPr lang="ko-KR" sz="1400"/>
          </a:p>
        </p:txBody>
      </p:sp>
      <p:sp>
        <p:nvSpPr>
          <p:cNvPr id="11" name="table-r1-c1"/>
          <p:cNvSpPr txBox="1"/>
          <p:nvPr/>
        </p:nvSpPr>
        <p:spPr>
          <a:xfrm>
            <a:off x="2495550" y="2266950"/>
            <a:ext cx="3619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400">
                <a:solidFill>
                  <a:srgbClr val="111111"/>
                </a:solidFill>
                <a:latin typeface="Malgun Gothic"/>
                <a:ea typeface="Malgun Gothic"/>
              </a:rPr>
              <a:t>Unity / Unreal / UMG</a:t>
            </a:r>
            <a:endParaRPr lang="ko-KR" sz="1400"/>
          </a:p>
        </p:txBody>
      </p:sp>
      <p:sp>
        <p:nvSpPr>
          <p:cNvPr id="12" name="table-r1-c2"/>
          <p:cNvSpPr txBox="1"/>
          <p:nvPr/>
        </p:nvSpPr>
        <p:spPr>
          <a:xfrm>
            <a:off x="6115050" y="2266950"/>
            <a:ext cx="53340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400">
                <a:solidFill>
                  <a:srgbClr val="111111"/>
                </a:solidFill>
                <a:latin typeface="Malgun Gothic"/>
                <a:ea typeface="Malgun Gothic"/>
              </a:rPr>
              <a:t>프로젝트명, 씬 구조, 블루프린트 또는 C# 코드</a:t>
            </a:r>
            <a:endParaRPr lang="ko-KR" sz="1400"/>
          </a:p>
        </p:txBody>
      </p:sp>
      <p:sp>
        <p:nvSpPr>
          <p:cNvPr id="13" name="table-r2-c0"/>
          <p:cNvSpPr txBox="1"/>
          <p:nvPr/>
        </p:nvSpPr>
        <p:spPr>
          <a:xfrm>
            <a:off x="876300" y="2819400"/>
            <a:ext cx="1619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400">
                <a:solidFill>
                  <a:srgbClr val="111111"/>
                </a:solidFill>
                <a:latin typeface="Malgun Gothic"/>
                <a:ea typeface="Malgun Gothic"/>
              </a:rPr>
              <a:t>Language</a:t>
            </a:r>
            <a:endParaRPr lang="ko-KR" sz="1400"/>
          </a:p>
        </p:txBody>
      </p:sp>
      <p:sp>
        <p:nvSpPr>
          <p:cNvPr id="14" name="table-r2-c1"/>
          <p:cNvSpPr txBox="1"/>
          <p:nvPr/>
        </p:nvSpPr>
        <p:spPr>
          <a:xfrm>
            <a:off x="2495550" y="2819400"/>
            <a:ext cx="3619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400">
                <a:solidFill>
                  <a:srgbClr val="111111"/>
                </a:solidFill>
                <a:latin typeface="Malgun Gothic"/>
                <a:ea typeface="Malgun Gothic"/>
              </a:rPr>
              <a:t>C# / C++ / Python</a:t>
            </a:r>
            <a:endParaRPr lang="ko-KR" sz="1400"/>
          </a:p>
        </p:txBody>
      </p:sp>
      <p:sp>
        <p:nvSpPr>
          <p:cNvPr id="15" name="table-r2-c2"/>
          <p:cNvSpPr txBox="1"/>
          <p:nvPr/>
        </p:nvSpPr>
        <p:spPr>
          <a:xfrm>
            <a:off x="6115050" y="2819400"/>
            <a:ext cx="53340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400">
                <a:solidFill>
                  <a:srgbClr val="111111"/>
                </a:solidFill>
                <a:latin typeface="Malgun Gothic"/>
                <a:ea typeface="Malgun Gothic"/>
              </a:rPr>
              <a:t>핵심 클래스, 알고리즘, 자동화 스크립트</a:t>
            </a:r>
            <a:endParaRPr lang="ko-KR" sz="1400"/>
          </a:p>
        </p:txBody>
      </p:sp>
      <p:sp>
        <p:nvSpPr>
          <p:cNvPr id="16" name="table-r3-c0"/>
          <p:cNvSpPr txBox="1"/>
          <p:nvPr/>
        </p:nvSpPr>
        <p:spPr>
          <a:xfrm>
            <a:off x="876300" y="3371850"/>
            <a:ext cx="1619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400">
                <a:solidFill>
                  <a:srgbClr val="111111"/>
                </a:solidFill>
                <a:latin typeface="Malgun Gothic"/>
                <a:ea typeface="Malgun Gothic"/>
              </a:rPr>
              <a:t>Gameplay</a:t>
            </a:r>
            <a:endParaRPr lang="ko-KR" sz="1400"/>
          </a:p>
        </p:txBody>
      </p:sp>
      <p:sp>
        <p:nvSpPr>
          <p:cNvPr id="17" name="table-r3-c1"/>
          <p:cNvSpPr txBox="1"/>
          <p:nvPr/>
        </p:nvSpPr>
        <p:spPr>
          <a:xfrm>
            <a:off x="2495550" y="3371850"/>
            <a:ext cx="3619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400">
                <a:solidFill>
                  <a:srgbClr val="111111"/>
                </a:solidFill>
                <a:latin typeface="Malgun Gothic"/>
                <a:ea typeface="Malgun Gothic"/>
              </a:rPr>
              <a:t>Input / Character / Camera / AI</a:t>
            </a:r>
            <a:endParaRPr lang="ko-KR" sz="1400"/>
          </a:p>
        </p:txBody>
      </p:sp>
      <p:sp>
        <p:nvSpPr>
          <p:cNvPr id="18" name="table-r3-c2"/>
          <p:cNvSpPr txBox="1"/>
          <p:nvPr/>
        </p:nvSpPr>
        <p:spPr>
          <a:xfrm>
            <a:off x="6115050" y="3371850"/>
            <a:ext cx="53340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400">
                <a:solidFill>
                  <a:srgbClr val="111111"/>
                </a:solidFill>
                <a:latin typeface="Malgun Gothic"/>
                <a:ea typeface="Malgun Gothic"/>
              </a:rPr>
              <a:t>플레이 영상, 구현 전후 비교</a:t>
            </a:r>
            <a:endParaRPr lang="ko-KR" sz="1400"/>
          </a:p>
        </p:txBody>
      </p:sp>
      <p:sp>
        <p:nvSpPr>
          <p:cNvPr id="19" name="table-r4-c0"/>
          <p:cNvSpPr txBox="1"/>
          <p:nvPr/>
        </p:nvSpPr>
        <p:spPr>
          <a:xfrm>
            <a:off x="876300" y="3924300"/>
            <a:ext cx="1619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400">
                <a:solidFill>
                  <a:srgbClr val="111111"/>
                </a:solidFill>
                <a:latin typeface="Malgun Gothic"/>
                <a:ea typeface="Malgun Gothic"/>
              </a:rPr>
              <a:t>UI/UX</a:t>
            </a:r>
            <a:endParaRPr lang="ko-KR" sz="1400"/>
          </a:p>
        </p:txBody>
      </p:sp>
      <p:sp>
        <p:nvSpPr>
          <p:cNvPr id="20" name="table-r4-c1"/>
          <p:cNvSpPr txBox="1"/>
          <p:nvPr/>
        </p:nvSpPr>
        <p:spPr>
          <a:xfrm>
            <a:off x="2495550" y="3924300"/>
            <a:ext cx="3619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400">
                <a:solidFill>
                  <a:srgbClr val="111111"/>
                </a:solidFill>
                <a:latin typeface="Malgun Gothic"/>
                <a:ea typeface="Malgun Gothic"/>
              </a:rPr>
              <a:t>HUD / Menu / Feedback</a:t>
            </a:r>
            <a:endParaRPr lang="ko-KR" sz="1400"/>
          </a:p>
        </p:txBody>
      </p:sp>
      <p:sp>
        <p:nvSpPr>
          <p:cNvPr id="21" name="table-r4-c2"/>
          <p:cNvSpPr txBox="1"/>
          <p:nvPr/>
        </p:nvSpPr>
        <p:spPr>
          <a:xfrm>
            <a:off x="6115050" y="3924300"/>
            <a:ext cx="53340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400">
                <a:solidFill>
                  <a:srgbClr val="111111"/>
                </a:solidFill>
                <a:latin typeface="Malgun Gothic"/>
                <a:ea typeface="Malgun Gothic"/>
              </a:rPr>
              <a:t>와이어프레임, 이벤트 흐름, 사용성 개선</a:t>
            </a:r>
            <a:endParaRPr lang="ko-KR" sz="1400"/>
          </a:p>
        </p:txBody>
      </p:sp>
      <p:sp>
        <p:nvSpPr>
          <p:cNvPr id="22" name="table-r5-c0"/>
          <p:cNvSpPr txBox="1"/>
          <p:nvPr/>
        </p:nvSpPr>
        <p:spPr>
          <a:xfrm>
            <a:off x="876300" y="4476750"/>
            <a:ext cx="1619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400">
                <a:solidFill>
                  <a:srgbClr val="111111"/>
                </a:solidFill>
                <a:latin typeface="Malgun Gothic"/>
                <a:ea typeface="Malgun Gothic"/>
              </a:rPr>
              <a:t>Tools</a:t>
            </a:r>
            <a:endParaRPr lang="ko-KR" sz="1400"/>
          </a:p>
        </p:txBody>
      </p:sp>
      <p:sp>
        <p:nvSpPr>
          <p:cNvPr id="23" name="table-r5-c1"/>
          <p:cNvSpPr txBox="1"/>
          <p:nvPr/>
        </p:nvSpPr>
        <p:spPr>
          <a:xfrm>
            <a:off x="2495550" y="4476750"/>
            <a:ext cx="3619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400">
                <a:solidFill>
                  <a:srgbClr val="111111"/>
                </a:solidFill>
                <a:latin typeface="Malgun Gothic"/>
                <a:ea typeface="Malgun Gothic"/>
              </a:rPr>
              <a:t>Git / Jira / Notion / Figma</a:t>
            </a:r>
            <a:endParaRPr lang="ko-KR" sz="1400"/>
          </a:p>
        </p:txBody>
      </p:sp>
      <p:sp>
        <p:nvSpPr>
          <p:cNvPr id="24" name="table-r5-c2"/>
          <p:cNvSpPr txBox="1"/>
          <p:nvPr/>
        </p:nvSpPr>
        <p:spPr>
          <a:xfrm>
            <a:off x="6115050" y="4476750"/>
            <a:ext cx="53340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400">
                <a:solidFill>
                  <a:srgbClr val="111111"/>
                </a:solidFill>
                <a:latin typeface="Malgun Gothic"/>
                <a:ea typeface="Malgun Gothic"/>
              </a:rPr>
              <a:t>커밋 링크, 이슈 보드, 일정표</a:t>
            </a:r>
            <a:endParaRPr lang="ko-KR" sz="1400"/>
          </a:p>
        </p:txBody>
      </p:sp>
      <p:sp>
        <p:nvSpPr>
          <p:cNvPr id="25" name="note"/>
          <p:cNvSpPr txBox="1"/>
          <p:nvPr/>
        </p:nvSpPr>
        <p:spPr>
          <a:xfrm>
            <a:off x="876300" y="5524500"/>
            <a:ext cx="80962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800">
                <a:solidFill>
                  <a:srgbClr val="5F5F5F"/>
                </a:solidFill>
                <a:latin typeface="Malgun Gothic"/>
                <a:ea typeface="Malgun Gothic"/>
              </a:rPr>
              <a:t>작성 팁: 단순 나열보다 '어떤 프로젝트에서 어떤 문제를 해결했는지'가 보이도록 근거 칸을 채우세요.</a:t>
            </a:r>
            <a:endParaRPr lang="ko-KR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09600" y="476250"/>
            <a:ext cx="2476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600" b="1">
                <a:solidFill>
                  <a:srgbClr val="111111"/>
                </a:solidFill>
                <a:latin typeface="Malgun Gothic"/>
                <a:ea typeface="Malgun Gothic"/>
              </a:rPr>
              <a:t>Projects</a:t>
            </a:r>
            <a:endParaRPr lang="ko-KR" sz="1600"/>
          </a:p>
        </p:txBody>
      </p:sp>
      <p:sp>
        <p:nvSpPr>
          <p:cNvPr id="3" name="title"/>
          <p:cNvSpPr txBox="1"/>
          <p:nvPr/>
        </p:nvSpPr>
        <p:spPr>
          <a:xfrm>
            <a:off x="609600" y="819150"/>
            <a:ext cx="6477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4000" b="1">
                <a:solidFill>
                  <a:srgbClr val="111111"/>
                </a:solidFill>
                <a:latin typeface="Malgun Gothic"/>
                <a:ea typeface="Malgun Gothic"/>
              </a:rPr>
              <a:t>대표 프로젝트는 2~3개만 깊게 보여주기</a:t>
            </a:r>
            <a:endParaRPr lang="ko-KR" sz="4000"/>
          </a:p>
        </p:txBody>
      </p:sp>
      <p:sp>
        <p:nvSpPr>
          <p:cNvPr id="4" name="rule"/>
          <p:cNvSpPr/>
          <p:nvPr/>
        </p:nvSpPr>
        <p:spPr>
          <a:xfrm>
            <a:off x="609600" y="1466850"/>
            <a:ext cx="1219200" cy="38100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  <p:sp>
        <p:nvSpPr>
          <p:cNvPr id="5" name="footer-role"/>
          <p:cNvSpPr txBox="1"/>
          <p:nvPr/>
        </p:nvSpPr>
        <p:spPr>
          <a:xfrm>
            <a:off x="609600" y="6419850"/>
            <a:ext cx="2476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900" b="1">
                <a:solidFill>
                  <a:srgbClr val="5F5F5F"/>
                </a:solidFill>
                <a:latin typeface="Malgun Gothic"/>
                <a:ea typeface="Malgun Gothic"/>
              </a:rPr>
              <a:t>CLIENT DEVELOPER PORTFOLIO</a:t>
            </a:r>
            <a:endParaRPr lang="ko-KR" sz="900"/>
          </a:p>
        </p:txBody>
      </p:sp>
      <p:sp>
        <p:nvSpPr>
          <p:cNvPr id="6" name="footer-page"/>
          <p:cNvSpPr txBox="1"/>
          <p:nvPr/>
        </p:nvSpPr>
        <p:spPr>
          <a:xfrm>
            <a:off x="11049000" y="6419850"/>
            <a:ext cx="5334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/>
            <a:r>
              <a:rPr lang="ko-KR" sz="1000" b="1">
                <a:solidFill>
                  <a:srgbClr val="5F5F5F"/>
                </a:solidFill>
                <a:latin typeface="Malgun Gothic"/>
                <a:ea typeface="Malgun Gothic"/>
              </a:rPr>
              <a:t>04</a:t>
            </a:r>
            <a:endParaRPr lang="ko-KR" sz="1000"/>
          </a:p>
        </p:txBody>
      </p:sp>
      <p:sp>
        <p:nvSpPr>
          <p:cNvPr id="7" name="card-Project 01"/>
          <p:cNvSpPr/>
          <p:nvPr/>
        </p:nvSpPr>
        <p:spPr>
          <a:xfrm>
            <a:off x="800100" y="1952625"/>
            <a:ext cx="3143250" cy="2381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2C5"/>
            </a:solidFill>
          </a:ln>
        </p:spPr>
      </p:sp>
      <p:sp>
        <p:nvSpPr>
          <p:cNvPr id="8" name="card-index-Project 01"/>
          <p:cNvSpPr txBox="1"/>
          <p:nvPr/>
        </p:nvSpPr>
        <p:spPr>
          <a:xfrm>
            <a:off x="1009650" y="2143125"/>
            <a:ext cx="5143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800" b="1">
                <a:solidFill>
                  <a:srgbClr val="0E5AA7"/>
                </a:solidFill>
                <a:latin typeface="Malgun Gothic"/>
                <a:ea typeface="Malgun Gothic"/>
              </a:rPr>
              <a:t>01</a:t>
            </a:r>
            <a:endParaRPr lang="ko-KR" sz="1800"/>
          </a:p>
        </p:txBody>
      </p:sp>
      <p:sp>
        <p:nvSpPr>
          <p:cNvPr id="9" name="card-heading-Project 01"/>
          <p:cNvSpPr txBox="1"/>
          <p:nvPr/>
        </p:nvSpPr>
        <p:spPr>
          <a:xfrm>
            <a:off x="1524000" y="2143125"/>
            <a:ext cx="22098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2000" b="1">
                <a:solidFill>
                  <a:srgbClr val="111111"/>
                </a:solidFill>
                <a:latin typeface="Malgun Gothic"/>
                <a:ea typeface="Malgun Gothic"/>
              </a:rPr>
              <a:t>Project 01</a:t>
            </a:r>
            <a:endParaRPr lang="ko-KR" sz="2000"/>
          </a:p>
        </p:txBody>
      </p:sp>
      <p:sp>
        <p:nvSpPr>
          <p:cNvPr id="10" name="card-body-Project 01"/>
          <p:cNvSpPr txBox="1"/>
          <p:nvPr/>
        </p:nvSpPr>
        <p:spPr>
          <a:xfrm>
            <a:off x="1009650" y="2562225"/>
            <a:ext cx="2724150" cy="15811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프로젝트명 / 장르 / 플랫폼</a:t>
            </a:r>
            <a:endParaRPr lang="ko-KR" sz="1500"/>
          </a:p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담당: 플레이어, UI, 사운드</a:t>
            </a:r>
            <a:endParaRPr lang="ko-KR" sz="1500"/>
          </a:p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핵심 성과: [수치 또는 결과]</a:t>
            </a:r>
            <a:endParaRPr lang="ko-KR" sz="1500"/>
          </a:p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링크: 영상 / GitHub</a:t>
            </a:r>
            <a:endParaRPr lang="ko-KR" sz="1500"/>
          </a:p>
        </p:txBody>
      </p:sp>
      <p:sp>
        <p:nvSpPr>
          <p:cNvPr id="11" name="card-Project 02"/>
          <p:cNvSpPr/>
          <p:nvPr/>
        </p:nvSpPr>
        <p:spPr>
          <a:xfrm>
            <a:off x="4514850" y="1952625"/>
            <a:ext cx="3143250" cy="2381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2C5"/>
            </a:solidFill>
          </a:ln>
        </p:spPr>
      </p:sp>
      <p:sp>
        <p:nvSpPr>
          <p:cNvPr id="12" name="card-index-Project 02"/>
          <p:cNvSpPr txBox="1"/>
          <p:nvPr/>
        </p:nvSpPr>
        <p:spPr>
          <a:xfrm>
            <a:off x="4724400" y="2143125"/>
            <a:ext cx="5143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800" b="1">
                <a:solidFill>
                  <a:srgbClr val="0E5AA7"/>
                </a:solidFill>
                <a:latin typeface="Malgun Gothic"/>
                <a:ea typeface="Malgun Gothic"/>
              </a:rPr>
              <a:t>02</a:t>
            </a:r>
            <a:endParaRPr lang="ko-KR" sz="1800"/>
          </a:p>
        </p:txBody>
      </p:sp>
      <p:sp>
        <p:nvSpPr>
          <p:cNvPr id="13" name="card-heading-Project 02"/>
          <p:cNvSpPr txBox="1"/>
          <p:nvPr/>
        </p:nvSpPr>
        <p:spPr>
          <a:xfrm>
            <a:off x="5238750" y="2143125"/>
            <a:ext cx="22098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2000" b="1">
                <a:solidFill>
                  <a:srgbClr val="111111"/>
                </a:solidFill>
                <a:latin typeface="Malgun Gothic"/>
                <a:ea typeface="Malgun Gothic"/>
              </a:rPr>
              <a:t>Project 02</a:t>
            </a:r>
            <a:endParaRPr lang="ko-KR" sz="2000"/>
          </a:p>
        </p:txBody>
      </p:sp>
      <p:sp>
        <p:nvSpPr>
          <p:cNvPr id="14" name="card-body-Project 02"/>
          <p:cNvSpPr txBox="1"/>
          <p:nvPr/>
        </p:nvSpPr>
        <p:spPr>
          <a:xfrm>
            <a:off x="4724400" y="2562225"/>
            <a:ext cx="2724150" cy="15811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프로젝트명 / 장르 / 플랫폼</a:t>
            </a:r>
            <a:endParaRPr lang="ko-KR" sz="1500"/>
          </a:p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담당: 네트워크, 최적화, 툴</a:t>
            </a:r>
            <a:endParaRPr lang="ko-KR" sz="1500"/>
          </a:p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핵심 성과: [수치 또는 결과]</a:t>
            </a:r>
            <a:endParaRPr lang="ko-KR" sz="1500"/>
          </a:p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링크: 빌드 / GitHub</a:t>
            </a:r>
            <a:endParaRPr lang="ko-KR" sz="1500"/>
          </a:p>
        </p:txBody>
      </p:sp>
      <p:sp>
        <p:nvSpPr>
          <p:cNvPr id="15" name="card-Project 03"/>
          <p:cNvSpPr/>
          <p:nvPr/>
        </p:nvSpPr>
        <p:spPr>
          <a:xfrm>
            <a:off x="8229600" y="1952625"/>
            <a:ext cx="3143250" cy="2381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2C5"/>
            </a:solidFill>
          </a:ln>
        </p:spPr>
      </p:sp>
      <p:sp>
        <p:nvSpPr>
          <p:cNvPr id="16" name="card-index-Project 03"/>
          <p:cNvSpPr txBox="1"/>
          <p:nvPr/>
        </p:nvSpPr>
        <p:spPr>
          <a:xfrm>
            <a:off x="8439150" y="2143125"/>
            <a:ext cx="5143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800" b="1">
                <a:solidFill>
                  <a:srgbClr val="0E5AA7"/>
                </a:solidFill>
                <a:latin typeface="Malgun Gothic"/>
                <a:ea typeface="Malgun Gothic"/>
              </a:rPr>
              <a:t>03</a:t>
            </a:r>
            <a:endParaRPr lang="ko-KR" sz="1800"/>
          </a:p>
        </p:txBody>
      </p:sp>
      <p:sp>
        <p:nvSpPr>
          <p:cNvPr id="17" name="card-heading-Project 03"/>
          <p:cNvSpPr txBox="1"/>
          <p:nvPr/>
        </p:nvSpPr>
        <p:spPr>
          <a:xfrm>
            <a:off x="8953500" y="2143125"/>
            <a:ext cx="22098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2000" b="1">
                <a:solidFill>
                  <a:srgbClr val="111111"/>
                </a:solidFill>
                <a:latin typeface="Malgun Gothic"/>
                <a:ea typeface="Malgun Gothic"/>
              </a:rPr>
              <a:t>Project 03</a:t>
            </a:r>
            <a:endParaRPr lang="ko-KR" sz="2000"/>
          </a:p>
        </p:txBody>
      </p:sp>
      <p:sp>
        <p:nvSpPr>
          <p:cNvPr id="18" name="card-body-Project 03"/>
          <p:cNvSpPr txBox="1"/>
          <p:nvPr/>
        </p:nvSpPr>
        <p:spPr>
          <a:xfrm>
            <a:off x="8439150" y="2562225"/>
            <a:ext cx="2724150" cy="15811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프로젝트명 / 장르 / 플랫폼</a:t>
            </a:r>
            <a:endParaRPr lang="ko-KR" sz="1500"/>
          </a:p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담당: 콘텐츠 시스템, UI</a:t>
            </a:r>
            <a:endParaRPr lang="ko-KR" sz="1500"/>
          </a:p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핵심 성과: [수치 또는 결과]</a:t>
            </a:r>
            <a:endParaRPr lang="ko-KR" sz="1500"/>
          </a:p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링크: 영상 / 문서</a:t>
            </a:r>
            <a:endParaRPr lang="ko-KR" sz="1500"/>
          </a:p>
        </p:txBody>
      </p:sp>
      <p:sp>
        <p:nvSpPr>
          <p:cNvPr id="19" name="project-filter"/>
          <p:cNvSpPr txBox="1"/>
          <p:nvPr/>
        </p:nvSpPr>
        <p:spPr>
          <a:xfrm>
            <a:off x="800100" y="4810125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800">
                <a:solidFill>
                  <a:srgbClr val="5F5F5F"/>
                </a:solidFill>
                <a:latin typeface="Malgun Gothic"/>
                <a:ea typeface="Malgun Gothic"/>
              </a:rPr>
              <a:t>선택 기준: 지원 직무와 가장 가까운 기능, 본인 기여도가 큰 기능, 면접에서 코드로 설명 가능한 기능</a:t>
            </a:r>
            <a:endParaRPr lang="ko-KR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ject-num"/>
          <p:cNvSpPr txBox="1"/>
          <p:nvPr/>
        </p:nvSpPr>
        <p:spPr>
          <a:xfrm>
            <a:off x="609600" y="495300"/>
            <a:ext cx="20955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3000" b="1">
                <a:solidFill>
                  <a:srgbClr val="111111"/>
                </a:solidFill>
                <a:latin typeface="Malgun Gothic"/>
                <a:ea typeface="Malgun Gothic"/>
              </a:rPr>
              <a:t>Project 01</a:t>
            </a:r>
            <a:endParaRPr lang="ko-KR" sz="3000"/>
          </a:p>
        </p:txBody>
      </p:sp>
      <p:sp>
        <p:nvSpPr>
          <p:cNvPr id="3" name="project-name"/>
          <p:cNvSpPr txBox="1"/>
          <p:nvPr/>
        </p:nvSpPr>
        <p:spPr>
          <a:xfrm>
            <a:off x="1047750" y="1200150"/>
            <a:ext cx="24765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"/>
            <a:r>
              <a:rPr lang="ko-KR" sz="3200" b="1">
                <a:solidFill>
                  <a:srgbClr val="111111"/>
                </a:solidFill>
                <a:latin typeface="Malgun Gothic"/>
                <a:ea typeface="Malgun Gothic"/>
              </a:rPr>
              <a:t>[프로젝트명]</a:t>
            </a:r>
            <a:endParaRPr lang="ko-KR" sz="3200"/>
          </a:p>
        </p:txBody>
      </p:sp>
      <p:sp>
        <p:nvSpPr>
          <p:cNvPr id="4" name="project-thumb"/>
          <p:cNvSpPr/>
          <p:nvPr/>
        </p:nvSpPr>
        <p:spPr>
          <a:xfrm>
            <a:off x="838200" y="1866900"/>
            <a:ext cx="2171700" cy="2171700"/>
          </a:xfrm>
          <a:prstGeom prst="ellipse">
            <a:avLst/>
          </a:prstGeom>
          <a:solidFill>
            <a:srgbClr val="EFE9DC"/>
          </a:solidFill>
          <a:ln w="11430">
            <a:solidFill>
              <a:srgbClr val="D8D2C5"/>
            </a:solidFill>
            <a:prstDash val="dash"/>
          </a:ln>
        </p:spPr>
      </p:sp>
      <p:sp>
        <p:nvSpPr>
          <p:cNvPr id="5" name="project-thumb-label"/>
          <p:cNvSpPr txBox="1"/>
          <p:nvPr/>
        </p:nvSpPr>
        <p:spPr>
          <a:xfrm>
            <a:off x="990600" y="2819400"/>
            <a:ext cx="18669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"/>
            <a:r>
              <a:rPr lang="ko-KR" sz="1600" b="1">
                <a:solidFill>
                  <a:srgbClr val="5F5F5F"/>
                </a:solidFill>
                <a:latin typeface="Malgun Gothic"/>
                <a:ea typeface="Malgun Gothic"/>
              </a:rPr>
              <a:t>[게임 이미지]</a:t>
            </a:r>
            <a:endParaRPr lang="ko-KR" sz="1600"/>
          </a:p>
        </p:txBody>
      </p:sp>
      <p:sp>
        <p:nvSpPr>
          <p:cNvPr id="6" name="project-links"/>
          <p:cNvSpPr txBox="1"/>
          <p:nvPr/>
        </p:nvSpPr>
        <p:spPr>
          <a:xfrm>
            <a:off x="895350" y="4362450"/>
            <a:ext cx="21907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"/>
            <a:r>
              <a:rPr lang="ko-KR" sz="1700" b="1" u="sng">
                <a:solidFill>
                  <a:srgbClr val="0E5AA7"/>
                </a:solidFill>
                <a:latin typeface="Malgun Gothic"/>
                <a:ea typeface="Malgun Gothic"/>
              </a:rPr>
              <a:t>영상 링크   GitHub 코드</a:t>
            </a:r>
            <a:endParaRPr lang="ko-KR" sz="1700"/>
          </a:p>
        </p:txBody>
      </p:sp>
      <p:sp>
        <p:nvSpPr>
          <p:cNvPr id="7" name="info-label-0"/>
          <p:cNvSpPr txBox="1"/>
          <p:nvPr/>
        </p:nvSpPr>
        <p:spPr>
          <a:xfrm>
            <a:off x="685800" y="4953000"/>
            <a:ext cx="9144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500" b="1">
                <a:solidFill>
                  <a:srgbClr val="111111"/>
                </a:solidFill>
                <a:latin typeface="Malgun Gothic"/>
                <a:ea typeface="Malgun Gothic"/>
              </a:rPr>
              <a:t>기간</a:t>
            </a:r>
            <a:endParaRPr lang="ko-KR" sz="1500"/>
          </a:p>
        </p:txBody>
      </p:sp>
      <p:sp>
        <p:nvSpPr>
          <p:cNvPr id="8" name="info-value-0"/>
          <p:cNvSpPr txBox="1"/>
          <p:nvPr/>
        </p:nvSpPr>
        <p:spPr>
          <a:xfrm>
            <a:off x="1676400" y="4953000"/>
            <a:ext cx="36195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500">
                <a:solidFill>
                  <a:srgbClr val="111111"/>
                </a:solidFill>
                <a:latin typeface="Malgun Gothic"/>
                <a:ea typeface="Malgun Gothic"/>
              </a:rPr>
              <a:t>YYYY.MM ~ YYYY.MM</a:t>
            </a:r>
            <a:endParaRPr lang="ko-KR" sz="1500"/>
          </a:p>
        </p:txBody>
      </p:sp>
      <p:sp>
        <p:nvSpPr>
          <p:cNvPr id="9" name="info-label-1"/>
          <p:cNvSpPr txBox="1"/>
          <p:nvPr/>
        </p:nvSpPr>
        <p:spPr>
          <a:xfrm>
            <a:off x="685800" y="5276850"/>
            <a:ext cx="9144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500" b="1">
                <a:solidFill>
                  <a:srgbClr val="111111"/>
                </a:solidFill>
                <a:latin typeface="Malgun Gothic"/>
                <a:ea typeface="Malgun Gothic"/>
              </a:rPr>
              <a:t>구성</a:t>
            </a:r>
            <a:endParaRPr lang="ko-KR" sz="1500"/>
          </a:p>
        </p:txBody>
      </p:sp>
      <p:sp>
        <p:nvSpPr>
          <p:cNvPr id="10" name="info-value-1"/>
          <p:cNvSpPr txBox="1"/>
          <p:nvPr/>
        </p:nvSpPr>
        <p:spPr>
          <a:xfrm>
            <a:off x="1676400" y="5276850"/>
            <a:ext cx="36195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500">
                <a:solidFill>
                  <a:srgbClr val="111111"/>
                </a:solidFill>
                <a:latin typeface="Malgun Gothic"/>
                <a:ea typeface="Malgun Gothic"/>
              </a:rPr>
              <a:t>개인 / 팀  N명</a:t>
            </a:r>
            <a:endParaRPr lang="ko-KR" sz="1500"/>
          </a:p>
        </p:txBody>
      </p:sp>
      <p:sp>
        <p:nvSpPr>
          <p:cNvPr id="11" name="info-label-2"/>
          <p:cNvSpPr txBox="1"/>
          <p:nvPr/>
        </p:nvSpPr>
        <p:spPr>
          <a:xfrm>
            <a:off x="685800" y="5600700"/>
            <a:ext cx="9144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500" b="1">
                <a:solidFill>
                  <a:srgbClr val="111111"/>
                </a:solidFill>
                <a:latin typeface="Malgun Gothic"/>
                <a:ea typeface="Malgun Gothic"/>
              </a:rPr>
              <a:t>역할</a:t>
            </a:r>
            <a:endParaRPr lang="ko-KR" sz="1500"/>
          </a:p>
        </p:txBody>
      </p:sp>
      <p:sp>
        <p:nvSpPr>
          <p:cNvPr id="12" name="info-value-2"/>
          <p:cNvSpPr txBox="1"/>
          <p:nvPr/>
        </p:nvSpPr>
        <p:spPr>
          <a:xfrm>
            <a:off x="1676400" y="5600700"/>
            <a:ext cx="36195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500">
                <a:solidFill>
                  <a:srgbClr val="111111"/>
                </a:solidFill>
                <a:latin typeface="Malgun Gothic"/>
                <a:ea typeface="Malgun Gothic"/>
              </a:rPr>
              <a:t>플레이어, UI/UX, Sound</a:t>
            </a:r>
            <a:endParaRPr lang="ko-KR" sz="1500"/>
          </a:p>
        </p:txBody>
      </p:sp>
      <p:sp>
        <p:nvSpPr>
          <p:cNvPr id="13" name="info-label-3"/>
          <p:cNvSpPr txBox="1"/>
          <p:nvPr/>
        </p:nvSpPr>
        <p:spPr>
          <a:xfrm>
            <a:off x="685800" y="5924550"/>
            <a:ext cx="9144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500" b="1">
                <a:solidFill>
                  <a:srgbClr val="111111"/>
                </a:solidFill>
                <a:latin typeface="Malgun Gothic"/>
                <a:ea typeface="Malgun Gothic"/>
              </a:rPr>
              <a:t>엔진</a:t>
            </a:r>
            <a:endParaRPr lang="ko-KR" sz="1500"/>
          </a:p>
        </p:txBody>
      </p:sp>
      <p:sp>
        <p:nvSpPr>
          <p:cNvPr id="14" name="info-value-3"/>
          <p:cNvSpPr txBox="1"/>
          <p:nvPr/>
        </p:nvSpPr>
        <p:spPr>
          <a:xfrm>
            <a:off x="1676400" y="5924550"/>
            <a:ext cx="36195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500">
                <a:solidFill>
                  <a:srgbClr val="111111"/>
                </a:solidFill>
                <a:latin typeface="Malgun Gothic"/>
                <a:ea typeface="Malgun Gothic"/>
              </a:rPr>
              <a:t>Unity / Unreal</a:t>
            </a:r>
            <a:endParaRPr lang="ko-KR" sz="1500"/>
          </a:p>
        </p:txBody>
      </p:sp>
      <p:sp>
        <p:nvSpPr>
          <p:cNvPr id="15" name="info-label-4"/>
          <p:cNvSpPr txBox="1"/>
          <p:nvPr/>
        </p:nvSpPr>
        <p:spPr>
          <a:xfrm>
            <a:off x="685800" y="6248400"/>
            <a:ext cx="9144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500" b="1">
                <a:solidFill>
                  <a:srgbClr val="111111"/>
                </a:solidFill>
                <a:latin typeface="Malgun Gothic"/>
                <a:ea typeface="Malgun Gothic"/>
              </a:rPr>
              <a:t>플랫폼</a:t>
            </a:r>
            <a:endParaRPr lang="ko-KR" sz="1500"/>
          </a:p>
        </p:txBody>
      </p:sp>
      <p:sp>
        <p:nvSpPr>
          <p:cNvPr id="16" name="info-value-4"/>
          <p:cNvSpPr txBox="1"/>
          <p:nvPr/>
        </p:nvSpPr>
        <p:spPr>
          <a:xfrm>
            <a:off x="1676400" y="6248400"/>
            <a:ext cx="36195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500">
                <a:solidFill>
                  <a:srgbClr val="111111"/>
                </a:solidFill>
                <a:latin typeface="Malgun Gothic"/>
                <a:ea typeface="Malgun Gothic"/>
              </a:rPr>
              <a:t>PC / Mobile / VR</a:t>
            </a:r>
            <a:endParaRPr lang="ko-KR" sz="1500"/>
          </a:p>
        </p:txBody>
      </p:sp>
      <p:sp>
        <p:nvSpPr>
          <p:cNvPr id="17" name="evidence-title"/>
          <p:cNvSpPr txBox="1"/>
          <p:nvPr/>
        </p:nvSpPr>
        <p:spPr>
          <a:xfrm>
            <a:off x="4324350" y="514350"/>
            <a:ext cx="6096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"/>
            <a:r>
              <a:rPr lang="ko-KR" sz="2800" b="1">
                <a:solidFill>
                  <a:srgbClr val="111111"/>
                </a:solidFill>
                <a:latin typeface="Malgun Gothic"/>
                <a:ea typeface="Malgun Gothic"/>
              </a:rPr>
              <a:t>핵심 구현 화면 또는 작업 증거</a:t>
            </a:r>
            <a:endParaRPr lang="ko-KR" sz="2800"/>
          </a:p>
        </p:txBody>
      </p:sp>
      <p:sp>
        <p:nvSpPr>
          <p:cNvPr id="18" name="project-evidence"/>
          <p:cNvSpPr/>
          <p:nvPr/>
        </p:nvSpPr>
        <p:spPr>
          <a:xfrm>
            <a:off x="4324350" y="1028700"/>
            <a:ext cx="7200900" cy="4343400"/>
          </a:xfrm>
          <a:prstGeom prst="roundRect">
            <a:avLst/>
          </a:prstGeom>
          <a:solidFill>
            <a:srgbClr val="EFE9DC"/>
          </a:solidFill>
          <a:ln w="11430">
            <a:solidFill>
              <a:srgbClr val="D8D2C5"/>
            </a:solidFill>
            <a:prstDash val="dash"/>
          </a:ln>
        </p:spPr>
      </p:sp>
      <p:sp>
        <p:nvSpPr>
          <p:cNvPr id="19" name="project-evidence-label"/>
          <p:cNvSpPr txBox="1"/>
          <p:nvPr/>
        </p:nvSpPr>
        <p:spPr>
          <a:xfrm>
            <a:off x="4476750" y="3067050"/>
            <a:ext cx="68961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"/>
            <a:r>
              <a:rPr lang="ko-KR" sz="1600" b="1">
                <a:solidFill>
                  <a:srgbClr val="5F5F5F"/>
                </a:solidFill>
                <a:latin typeface="Malgun Gothic"/>
                <a:ea typeface="Malgun Gothic"/>
              </a:rPr>
              <a:t>[대표 스크린샷 / 플레이 영상 캡처 / 작업표]</a:t>
            </a:r>
            <a:endParaRPr lang="ko-KR" sz="1600"/>
          </a:p>
        </p:txBody>
      </p:sp>
      <p:sp>
        <p:nvSpPr>
          <p:cNvPr id="20" name="evidence-caption"/>
          <p:cNvSpPr txBox="1"/>
          <p:nvPr/>
        </p:nvSpPr>
        <p:spPr>
          <a:xfrm>
            <a:off x="4324350" y="5562600"/>
            <a:ext cx="72009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600">
                <a:solidFill>
                  <a:srgbClr val="5F5F5F"/>
                </a:solidFill>
                <a:latin typeface="Malgun Gothic"/>
                <a:ea typeface="Malgun Gothic"/>
              </a:rPr>
              <a:t>캡션: 어떤 기능을 직접 구현했고, 사용자가 어떻게 체감하는지 한 문장으로 설명</a:t>
            </a:r>
            <a:endParaRPr lang="ko-KR" sz="1600"/>
          </a:p>
        </p:txBody>
      </p:sp>
      <p:sp>
        <p:nvSpPr>
          <p:cNvPr id="21" name="footer-role"/>
          <p:cNvSpPr txBox="1"/>
          <p:nvPr/>
        </p:nvSpPr>
        <p:spPr>
          <a:xfrm>
            <a:off x="609600" y="6419850"/>
            <a:ext cx="2476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900" b="1">
                <a:solidFill>
                  <a:srgbClr val="5F5F5F"/>
                </a:solidFill>
                <a:latin typeface="Malgun Gothic"/>
                <a:ea typeface="Malgun Gothic"/>
              </a:rPr>
              <a:t>CLIENT DEVELOPER PORTFOLIO</a:t>
            </a:r>
            <a:endParaRPr lang="ko-KR" sz="900"/>
          </a:p>
        </p:txBody>
      </p:sp>
      <p:sp>
        <p:nvSpPr>
          <p:cNvPr id="22" name="footer-page"/>
          <p:cNvSpPr txBox="1"/>
          <p:nvPr/>
        </p:nvSpPr>
        <p:spPr>
          <a:xfrm>
            <a:off x="11049000" y="6419850"/>
            <a:ext cx="5334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/>
            <a:r>
              <a:rPr lang="ko-KR" sz="1000" b="1">
                <a:solidFill>
                  <a:srgbClr val="5F5F5F"/>
                </a:solidFill>
                <a:latin typeface="Malgun Gothic"/>
                <a:ea typeface="Malgun Gothic"/>
              </a:rPr>
              <a:t>05</a:t>
            </a:r>
            <a:endParaRPr lang="ko-KR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09600" y="476250"/>
            <a:ext cx="2476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600" b="1">
                <a:solidFill>
                  <a:srgbClr val="111111"/>
                </a:solidFill>
                <a:latin typeface="Malgun Gothic"/>
                <a:ea typeface="Malgun Gothic"/>
              </a:rPr>
              <a:t>Contribution</a:t>
            </a:r>
            <a:endParaRPr lang="ko-KR" sz="1600"/>
          </a:p>
        </p:txBody>
      </p:sp>
      <p:sp>
        <p:nvSpPr>
          <p:cNvPr id="3" name="title"/>
          <p:cNvSpPr txBox="1"/>
          <p:nvPr/>
        </p:nvSpPr>
        <p:spPr>
          <a:xfrm>
            <a:off x="609600" y="819150"/>
            <a:ext cx="6477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4000" b="1">
                <a:solidFill>
                  <a:srgbClr val="111111"/>
                </a:solidFill>
                <a:latin typeface="Malgun Gothic"/>
                <a:ea typeface="Malgun Gothic"/>
              </a:rPr>
              <a:t>내가 만든 기능은 역할보다 결과로 설명하기</a:t>
            </a:r>
            <a:endParaRPr lang="ko-KR" sz="4000"/>
          </a:p>
        </p:txBody>
      </p:sp>
      <p:sp>
        <p:nvSpPr>
          <p:cNvPr id="4" name="rule"/>
          <p:cNvSpPr/>
          <p:nvPr/>
        </p:nvSpPr>
        <p:spPr>
          <a:xfrm>
            <a:off x="609600" y="1466850"/>
            <a:ext cx="1219200" cy="38100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  <p:sp>
        <p:nvSpPr>
          <p:cNvPr id="5" name="footer-role"/>
          <p:cNvSpPr txBox="1"/>
          <p:nvPr/>
        </p:nvSpPr>
        <p:spPr>
          <a:xfrm>
            <a:off x="609600" y="6419850"/>
            <a:ext cx="2476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900" b="1">
                <a:solidFill>
                  <a:srgbClr val="5F5F5F"/>
                </a:solidFill>
                <a:latin typeface="Malgun Gothic"/>
                <a:ea typeface="Malgun Gothic"/>
              </a:rPr>
              <a:t>CLIENT DEVELOPER PORTFOLIO</a:t>
            </a:r>
            <a:endParaRPr lang="ko-KR" sz="900"/>
          </a:p>
        </p:txBody>
      </p:sp>
      <p:sp>
        <p:nvSpPr>
          <p:cNvPr id="6" name="footer-page"/>
          <p:cNvSpPr txBox="1"/>
          <p:nvPr/>
        </p:nvSpPr>
        <p:spPr>
          <a:xfrm>
            <a:off x="11049000" y="6419850"/>
            <a:ext cx="5334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/>
            <a:r>
              <a:rPr lang="ko-KR" sz="1000" b="1">
                <a:solidFill>
                  <a:srgbClr val="5F5F5F"/>
                </a:solidFill>
                <a:latin typeface="Malgun Gothic"/>
                <a:ea typeface="Malgun Gothic"/>
              </a:rPr>
              <a:t>06</a:t>
            </a:r>
            <a:endParaRPr lang="ko-KR" sz="1000"/>
          </a:p>
        </p:txBody>
      </p:sp>
      <p:sp>
        <p:nvSpPr>
          <p:cNvPr id="7" name="card-기능 01"/>
          <p:cNvSpPr/>
          <p:nvPr/>
        </p:nvSpPr>
        <p:spPr>
          <a:xfrm>
            <a:off x="876300" y="1952625"/>
            <a:ext cx="3143250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2C5"/>
            </a:solidFill>
          </a:ln>
        </p:spPr>
      </p:sp>
      <p:sp>
        <p:nvSpPr>
          <p:cNvPr id="8" name="card-index-기능 01"/>
          <p:cNvSpPr txBox="1"/>
          <p:nvPr/>
        </p:nvSpPr>
        <p:spPr>
          <a:xfrm>
            <a:off x="1085850" y="2143125"/>
            <a:ext cx="5143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800" b="1">
                <a:solidFill>
                  <a:srgbClr val="0E5AA7"/>
                </a:solidFill>
                <a:latin typeface="Malgun Gothic"/>
                <a:ea typeface="Malgun Gothic"/>
              </a:rPr>
              <a:t>01</a:t>
            </a:r>
            <a:endParaRPr lang="ko-KR" sz="1800"/>
          </a:p>
        </p:txBody>
      </p:sp>
      <p:sp>
        <p:nvSpPr>
          <p:cNvPr id="9" name="card-heading-기능 01"/>
          <p:cNvSpPr txBox="1"/>
          <p:nvPr/>
        </p:nvSpPr>
        <p:spPr>
          <a:xfrm>
            <a:off x="1600200" y="2143125"/>
            <a:ext cx="22098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2000" b="1">
                <a:solidFill>
                  <a:srgbClr val="111111"/>
                </a:solidFill>
                <a:latin typeface="Malgun Gothic"/>
                <a:ea typeface="Malgun Gothic"/>
              </a:rPr>
              <a:t>기능 01</a:t>
            </a:r>
            <a:endParaRPr lang="ko-KR" sz="2000"/>
          </a:p>
        </p:txBody>
      </p:sp>
      <p:sp>
        <p:nvSpPr>
          <p:cNvPr id="10" name="card-body-기능 01"/>
          <p:cNvSpPr txBox="1"/>
          <p:nvPr/>
        </p:nvSpPr>
        <p:spPr>
          <a:xfrm>
            <a:off x="1085850" y="2562225"/>
            <a:ext cx="2724150" cy="2057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문제: [플레이/UX 문제]</a:t>
            </a:r>
            <a:endParaRPr lang="ko-KR" sz="1500"/>
          </a:p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구현: [클래스/시스템]</a:t>
            </a:r>
            <a:endParaRPr lang="ko-KR" sz="1500"/>
          </a:p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결과: [개선된 동작]</a:t>
            </a:r>
            <a:endParaRPr lang="ko-KR" sz="1500"/>
          </a:p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증거: 영상 시간대 또는 코드 링크</a:t>
            </a:r>
            <a:endParaRPr lang="ko-KR" sz="1500"/>
          </a:p>
        </p:txBody>
      </p:sp>
      <p:sp>
        <p:nvSpPr>
          <p:cNvPr id="11" name="card-기능 02"/>
          <p:cNvSpPr/>
          <p:nvPr/>
        </p:nvSpPr>
        <p:spPr>
          <a:xfrm>
            <a:off x="4514850" y="1952625"/>
            <a:ext cx="3143250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2C5"/>
            </a:solidFill>
          </a:ln>
        </p:spPr>
      </p:sp>
      <p:sp>
        <p:nvSpPr>
          <p:cNvPr id="12" name="card-index-기능 02"/>
          <p:cNvSpPr txBox="1"/>
          <p:nvPr/>
        </p:nvSpPr>
        <p:spPr>
          <a:xfrm>
            <a:off x="4724400" y="2143125"/>
            <a:ext cx="5143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800" b="1">
                <a:solidFill>
                  <a:srgbClr val="0E5AA7"/>
                </a:solidFill>
                <a:latin typeface="Malgun Gothic"/>
                <a:ea typeface="Malgun Gothic"/>
              </a:rPr>
              <a:t>02</a:t>
            </a:r>
            <a:endParaRPr lang="ko-KR" sz="1800"/>
          </a:p>
        </p:txBody>
      </p:sp>
      <p:sp>
        <p:nvSpPr>
          <p:cNvPr id="13" name="card-heading-기능 02"/>
          <p:cNvSpPr txBox="1"/>
          <p:nvPr/>
        </p:nvSpPr>
        <p:spPr>
          <a:xfrm>
            <a:off x="5238750" y="2143125"/>
            <a:ext cx="22098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2000" b="1">
                <a:solidFill>
                  <a:srgbClr val="111111"/>
                </a:solidFill>
                <a:latin typeface="Malgun Gothic"/>
                <a:ea typeface="Malgun Gothic"/>
              </a:rPr>
              <a:t>기능 02</a:t>
            </a:r>
            <a:endParaRPr lang="ko-KR" sz="2000"/>
          </a:p>
        </p:txBody>
      </p:sp>
      <p:sp>
        <p:nvSpPr>
          <p:cNvPr id="14" name="card-body-기능 02"/>
          <p:cNvSpPr txBox="1"/>
          <p:nvPr/>
        </p:nvSpPr>
        <p:spPr>
          <a:xfrm>
            <a:off x="4724400" y="2562225"/>
            <a:ext cx="2724150" cy="2057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문제: [반복 작업/버그]</a:t>
            </a:r>
            <a:endParaRPr lang="ko-KR" sz="1500"/>
          </a:p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구현: [툴/자동화/리팩터링]</a:t>
            </a:r>
            <a:endParaRPr lang="ko-KR" sz="1500"/>
          </a:p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결과: [시간 단축/안정성]</a:t>
            </a:r>
            <a:endParaRPr lang="ko-KR" sz="1500"/>
          </a:p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증거: 커밋 또는 전후 비교</a:t>
            </a:r>
            <a:endParaRPr lang="ko-KR" sz="1500"/>
          </a:p>
        </p:txBody>
      </p:sp>
      <p:sp>
        <p:nvSpPr>
          <p:cNvPr id="15" name="card-기능 03"/>
          <p:cNvSpPr/>
          <p:nvPr/>
        </p:nvSpPr>
        <p:spPr>
          <a:xfrm>
            <a:off x="8153400" y="1952625"/>
            <a:ext cx="3143250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2C5"/>
            </a:solidFill>
          </a:ln>
        </p:spPr>
      </p:sp>
      <p:sp>
        <p:nvSpPr>
          <p:cNvPr id="16" name="card-index-기능 03"/>
          <p:cNvSpPr txBox="1"/>
          <p:nvPr/>
        </p:nvSpPr>
        <p:spPr>
          <a:xfrm>
            <a:off x="8362950" y="2143125"/>
            <a:ext cx="5143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800" b="1">
                <a:solidFill>
                  <a:srgbClr val="0E5AA7"/>
                </a:solidFill>
                <a:latin typeface="Malgun Gothic"/>
                <a:ea typeface="Malgun Gothic"/>
              </a:rPr>
              <a:t>03</a:t>
            </a:r>
            <a:endParaRPr lang="ko-KR" sz="1800"/>
          </a:p>
        </p:txBody>
      </p:sp>
      <p:sp>
        <p:nvSpPr>
          <p:cNvPr id="17" name="card-heading-기능 03"/>
          <p:cNvSpPr txBox="1"/>
          <p:nvPr/>
        </p:nvSpPr>
        <p:spPr>
          <a:xfrm>
            <a:off x="8877300" y="2143125"/>
            <a:ext cx="22098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2000" b="1">
                <a:solidFill>
                  <a:srgbClr val="111111"/>
                </a:solidFill>
                <a:latin typeface="Malgun Gothic"/>
                <a:ea typeface="Malgun Gothic"/>
              </a:rPr>
              <a:t>기능 03</a:t>
            </a:r>
            <a:endParaRPr lang="ko-KR" sz="2000"/>
          </a:p>
        </p:txBody>
      </p:sp>
      <p:sp>
        <p:nvSpPr>
          <p:cNvPr id="18" name="card-body-기능 03"/>
          <p:cNvSpPr txBox="1"/>
          <p:nvPr/>
        </p:nvSpPr>
        <p:spPr>
          <a:xfrm>
            <a:off x="8362950" y="2562225"/>
            <a:ext cx="2724150" cy="2057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문제: [성능/입력/카메라]</a:t>
            </a:r>
            <a:endParaRPr lang="ko-KR" sz="1500"/>
          </a:p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구현: [알고리즘/상태관리]</a:t>
            </a:r>
            <a:endParaRPr lang="ko-KR" sz="1500"/>
          </a:p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결과: [FPS/응답성/품질]</a:t>
            </a:r>
            <a:endParaRPr lang="ko-KR" sz="1500"/>
          </a:p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증거: 프로파일링 수치</a:t>
            </a:r>
            <a:endParaRPr lang="ko-KR" sz="1500"/>
          </a:p>
        </p:txBody>
      </p:sp>
      <p:sp>
        <p:nvSpPr>
          <p:cNvPr id="19" name="contribution-tip"/>
          <p:cNvSpPr txBox="1"/>
          <p:nvPr/>
        </p:nvSpPr>
        <p:spPr>
          <a:xfrm>
            <a:off x="876300" y="5295900"/>
            <a:ext cx="9239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800">
                <a:solidFill>
                  <a:srgbClr val="5F5F5F"/>
                </a:solidFill>
                <a:latin typeface="Malgun Gothic"/>
                <a:ea typeface="Malgun Gothic"/>
              </a:rPr>
              <a:t>권장 형식: 문제 -&gt; 구현 판단 -&gt; 결과 -&gt; 증거. 면접관이 바로 질문할 수 있는 단위로 자르세요.</a:t>
            </a:r>
            <a:endParaRPr lang="ko-KR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09600" y="476250"/>
            <a:ext cx="2476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600" b="1">
                <a:solidFill>
                  <a:srgbClr val="111111"/>
                </a:solidFill>
                <a:latin typeface="Malgun Gothic"/>
                <a:ea typeface="Malgun Gothic"/>
              </a:rPr>
              <a:t>Problem Solving</a:t>
            </a:r>
            <a:endParaRPr lang="ko-KR" sz="1600"/>
          </a:p>
        </p:txBody>
      </p:sp>
      <p:sp>
        <p:nvSpPr>
          <p:cNvPr id="3" name="title"/>
          <p:cNvSpPr txBox="1"/>
          <p:nvPr/>
        </p:nvSpPr>
        <p:spPr>
          <a:xfrm>
            <a:off x="609600" y="819150"/>
            <a:ext cx="6477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4000" b="1">
                <a:solidFill>
                  <a:srgbClr val="111111"/>
                </a:solidFill>
                <a:latin typeface="Malgun Gothic"/>
                <a:ea typeface="Malgun Gothic"/>
              </a:rPr>
              <a:t>기술 문제는 판단 과정까지 보여주기</a:t>
            </a:r>
            <a:endParaRPr lang="ko-KR" sz="4000"/>
          </a:p>
        </p:txBody>
      </p:sp>
      <p:sp>
        <p:nvSpPr>
          <p:cNvPr id="4" name="rule"/>
          <p:cNvSpPr/>
          <p:nvPr/>
        </p:nvSpPr>
        <p:spPr>
          <a:xfrm>
            <a:off x="609600" y="1466850"/>
            <a:ext cx="1219200" cy="38100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  <p:sp>
        <p:nvSpPr>
          <p:cNvPr id="5" name="footer-role"/>
          <p:cNvSpPr txBox="1"/>
          <p:nvPr/>
        </p:nvSpPr>
        <p:spPr>
          <a:xfrm>
            <a:off x="609600" y="6419850"/>
            <a:ext cx="2476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900" b="1">
                <a:solidFill>
                  <a:srgbClr val="5F5F5F"/>
                </a:solidFill>
                <a:latin typeface="Malgun Gothic"/>
                <a:ea typeface="Malgun Gothic"/>
              </a:rPr>
              <a:t>CLIENT DEVELOPER PORTFOLIO</a:t>
            </a:r>
            <a:endParaRPr lang="ko-KR" sz="900"/>
          </a:p>
        </p:txBody>
      </p:sp>
      <p:sp>
        <p:nvSpPr>
          <p:cNvPr id="6" name="footer-page"/>
          <p:cNvSpPr txBox="1"/>
          <p:nvPr/>
        </p:nvSpPr>
        <p:spPr>
          <a:xfrm>
            <a:off x="11049000" y="6419850"/>
            <a:ext cx="5334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/>
            <a:r>
              <a:rPr lang="ko-KR" sz="1000" b="1">
                <a:solidFill>
                  <a:srgbClr val="5F5F5F"/>
                </a:solidFill>
                <a:latin typeface="Malgun Gothic"/>
                <a:ea typeface="Malgun Gothic"/>
              </a:rPr>
              <a:t>07</a:t>
            </a:r>
            <a:endParaRPr lang="ko-KR" sz="1000"/>
          </a:p>
        </p:txBody>
      </p:sp>
      <p:sp>
        <p:nvSpPr>
          <p:cNvPr id="7" name="card-Before"/>
          <p:cNvSpPr/>
          <p:nvPr/>
        </p:nvSpPr>
        <p:spPr>
          <a:xfrm>
            <a:off x="704850" y="2038350"/>
            <a:ext cx="2857500" cy="2095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2C5"/>
            </a:solidFill>
          </a:ln>
        </p:spPr>
      </p:sp>
      <p:sp>
        <p:nvSpPr>
          <p:cNvPr id="8" name="card-heading-Before"/>
          <p:cNvSpPr txBox="1"/>
          <p:nvPr/>
        </p:nvSpPr>
        <p:spPr>
          <a:xfrm>
            <a:off x="914400" y="2228850"/>
            <a:ext cx="24384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2000" b="1">
                <a:solidFill>
                  <a:srgbClr val="111111"/>
                </a:solidFill>
                <a:latin typeface="Malgun Gothic"/>
                <a:ea typeface="Malgun Gothic"/>
              </a:rPr>
              <a:t>Before</a:t>
            </a:r>
            <a:endParaRPr lang="ko-KR" sz="2000"/>
          </a:p>
        </p:txBody>
      </p:sp>
      <p:sp>
        <p:nvSpPr>
          <p:cNvPr id="9" name="card-body-Before"/>
          <p:cNvSpPr txBox="1"/>
          <p:nvPr/>
        </p:nvSpPr>
        <p:spPr>
          <a:xfrm>
            <a:off x="914400" y="2647950"/>
            <a:ext cx="24384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증상: [예: 입력 지연 / 카메라 흔들림 / UI 중복]</a:t>
            </a:r>
            <a:endParaRPr lang="ko-KR" sz="1500"/>
          </a:p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원인 가설: [어디서 병목이 났는지]</a:t>
            </a:r>
            <a:endParaRPr lang="ko-KR" sz="1500"/>
          </a:p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재현 조건: [맵/기기/상황]</a:t>
            </a:r>
            <a:endParaRPr lang="ko-KR" sz="1500"/>
          </a:p>
        </p:txBody>
      </p:sp>
      <p:sp>
        <p:nvSpPr>
          <p:cNvPr id="10" name="card-Approach"/>
          <p:cNvSpPr/>
          <p:nvPr/>
        </p:nvSpPr>
        <p:spPr>
          <a:xfrm>
            <a:off x="3848100" y="2038350"/>
            <a:ext cx="2857500" cy="2095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2C5"/>
            </a:solidFill>
          </a:ln>
        </p:spPr>
      </p:sp>
      <p:sp>
        <p:nvSpPr>
          <p:cNvPr id="11" name="card-heading-Approach"/>
          <p:cNvSpPr txBox="1"/>
          <p:nvPr/>
        </p:nvSpPr>
        <p:spPr>
          <a:xfrm>
            <a:off x="4057650" y="2228850"/>
            <a:ext cx="24384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2000" b="1">
                <a:solidFill>
                  <a:srgbClr val="111111"/>
                </a:solidFill>
                <a:latin typeface="Malgun Gothic"/>
                <a:ea typeface="Malgun Gothic"/>
              </a:rPr>
              <a:t>Approach</a:t>
            </a:r>
            <a:endParaRPr lang="ko-KR" sz="2000"/>
          </a:p>
        </p:txBody>
      </p:sp>
      <p:sp>
        <p:nvSpPr>
          <p:cNvPr id="12" name="card-body-Approach"/>
          <p:cNvSpPr txBox="1"/>
          <p:nvPr/>
        </p:nvSpPr>
        <p:spPr>
          <a:xfrm>
            <a:off x="4057650" y="2647950"/>
            <a:ext cx="24384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대안 A: [장단점]</a:t>
            </a:r>
            <a:endParaRPr lang="ko-KR" sz="1500"/>
          </a:p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대안 B: [장단점]</a:t>
            </a:r>
            <a:endParaRPr lang="ko-KR" sz="1500"/>
          </a:p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선택 이유: [유지보수/성능/일정]</a:t>
            </a:r>
            <a:endParaRPr lang="ko-KR" sz="1500"/>
          </a:p>
        </p:txBody>
      </p:sp>
      <p:sp>
        <p:nvSpPr>
          <p:cNvPr id="13" name="card-Result"/>
          <p:cNvSpPr/>
          <p:nvPr/>
        </p:nvSpPr>
        <p:spPr>
          <a:xfrm>
            <a:off x="6991350" y="2038350"/>
            <a:ext cx="2857500" cy="2095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2C5"/>
            </a:solidFill>
          </a:ln>
        </p:spPr>
      </p:sp>
      <p:sp>
        <p:nvSpPr>
          <p:cNvPr id="14" name="card-heading-Result"/>
          <p:cNvSpPr txBox="1"/>
          <p:nvPr/>
        </p:nvSpPr>
        <p:spPr>
          <a:xfrm>
            <a:off x="7200900" y="2228850"/>
            <a:ext cx="24384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2000" b="1">
                <a:solidFill>
                  <a:srgbClr val="111111"/>
                </a:solidFill>
                <a:latin typeface="Malgun Gothic"/>
                <a:ea typeface="Malgun Gothic"/>
              </a:rPr>
              <a:t>Result</a:t>
            </a:r>
            <a:endParaRPr lang="ko-KR" sz="2000"/>
          </a:p>
        </p:txBody>
      </p:sp>
      <p:sp>
        <p:nvSpPr>
          <p:cNvPr id="15" name="card-body-Result"/>
          <p:cNvSpPr txBox="1"/>
          <p:nvPr/>
        </p:nvSpPr>
        <p:spPr>
          <a:xfrm>
            <a:off x="7200900" y="2647950"/>
            <a:ext cx="24384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결과: [수치 또는 동작 변화]</a:t>
            </a:r>
            <a:endParaRPr lang="ko-KR" sz="1500"/>
          </a:p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검증: [테스트/프로파일링]</a:t>
            </a:r>
            <a:endParaRPr lang="ko-KR" sz="1500"/>
          </a:p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남은 개선: [후속 작업]</a:t>
            </a:r>
            <a:endParaRPr lang="ko-KR" sz="1500"/>
          </a:p>
        </p:txBody>
      </p:sp>
      <p:sp>
        <p:nvSpPr>
          <p:cNvPr id="16" name="code-box"/>
          <p:cNvSpPr/>
          <p:nvPr/>
        </p:nvSpPr>
        <p:spPr>
          <a:xfrm>
            <a:off x="704850" y="4533900"/>
            <a:ext cx="9144000" cy="914400"/>
          </a:xfrm>
          <a:prstGeom prst="roundRect">
            <a:avLst/>
          </a:prstGeom>
          <a:solidFill>
            <a:srgbClr val="1D1D1D"/>
          </a:solidFill>
          <a:ln w="9525">
            <a:solidFill>
              <a:srgbClr val="1D1D1D"/>
            </a:solidFill>
          </a:ln>
        </p:spPr>
      </p:sp>
      <p:sp>
        <p:nvSpPr>
          <p:cNvPr id="17" name="code-text"/>
          <p:cNvSpPr txBox="1"/>
          <p:nvPr/>
        </p:nvSpPr>
        <p:spPr>
          <a:xfrm>
            <a:off x="914400" y="4762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2000">
                <a:solidFill>
                  <a:srgbClr val="F5F5F5"/>
                </a:solidFill>
                <a:latin typeface="Malgun Gothic"/>
                <a:ea typeface="Malgun Gothic"/>
              </a:rPr>
              <a:t>public void ApplyInput(Vector2 input) { /* 핵심 코드 일부 */ }</a:t>
            </a:r>
            <a:endParaRPr lang="ko-KR" sz="2000"/>
          </a:p>
        </p:txBody>
      </p:sp>
      <p:sp>
        <p:nvSpPr>
          <p:cNvPr id="18" name="problem-note"/>
          <p:cNvSpPr txBox="1"/>
          <p:nvPr/>
        </p:nvSpPr>
        <p:spPr>
          <a:xfrm>
            <a:off x="10096500" y="2076450"/>
            <a:ext cx="1104900" cy="2114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"/>
            <a:r>
              <a:rPr lang="ko-KR" sz="2200" b="1">
                <a:solidFill>
                  <a:srgbClr val="0E5AA7"/>
                </a:solidFill>
                <a:latin typeface="Malgun Gothic"/>
                <a:ea typeface="Malgun Gothic"/>
              </a:rPr>
              <a:t>이미지보다</a:t>
            </a:r>
            <a:endParaRPr lang="ko-KR" sz="2200"/>
          </a:p>
          <a:p>
            <a:pPr algn="c"/>
            <a:r>
              <a:rPr lang="ko-KR" sz="2200" b="1">
                <a:solidFill>
                  <a:srgbClr val="0E5AA7"/>
                </a:solidFill>
                <a:latin typeface="Malgun Gothic"/>
                <a:ea typeface="Malgun Gothic"/>
              </a:rPr>
              <a:t>원인과 판단을</a:t>
            </a:r>
            <a:endParaRPr lang="ko-KR" sz="2200"/>
          </a:p>
          <a:p>
            <a:pPr algn="c"/>
            <a:r>
              <a:rPr lang="ko-KR" sz="2200" b="1">
                <a:solidFill>
                  <a:srgbClr val="0E5AA7"/>
                </a:solidFill>
                <a:latin typeface="Malgun Gothic"/>
                <a:ea typeface="Malgun Gothic"/>
              </a:rPr>
              <a:t>더 크게</a:t>
            </a:r>
            <a:endParaRPr lang="ko-KR"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09600" y="476250"/>
            <a:ext cx="2476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600" b="1">
                <a:solidFill>
                  <a:srgbClr val="111111"/>
                </a:solidFill>
                <a:latin typeface="Malgun Gothic"/>
                <a:ea typeface="Malgun Gothic"/>
              </a:rPr>
              <a:t>Architecture</a:t>
            </a:r>
            <a:endParaRPr lang="ko-KR" sz="1600"/>
          </a:p>
        </p:txBody>
      </p:sp>
      <p:sp>
        <p:nvSpPr>
          <p:cNvPr id="3" name="title"/>
          <p:cNvSpPr txBox="1"/>
          <p:nvPr/>
        </p:nvSpPr>
        <p:spPr>
          <a:xfrm>
            <a:off x="609600" y="819150"/>
            <a:ext cx="6477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4000" b="1">
                <a:solidFill>
                  <a:srgbClr val="111111"/>
                </a:solidFill>
                <a:latin typeface="Malgun Gothic"/>
                <a:ea typeface="Malgun Gothic"/>
              </a:rPr>
              <a:t>클라이언트 구조는 책임 단위로 단순화하기</a:t>
            </a:r>
            <a:endParaRPr lang="ko-KR" sz="4000"/>
          </a:p>
        </p:txBody>
      </p:sp>
      <p:sp>
        <p:nvSpPr>
          <p:cNvPr id="4" name="rule"/>
          <p:cNvSpPr/>
          <p:nvPr/>
        </p:nvSpPr>
        <p:spPr>
          <a:xfrm>
            <a:off x="609600" y="1466850"/>
            <a:ext cx="1219200" cy="38100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  <p:sp>
        <p:nvSpPr>
          <p:cNvPr id="5" name="footer-role"/>
          <p:cNvSpPr txBox="1"/>
          <p:nvPr/>
        </p:nvSpPr>
        <p:spPr>
          <a:xfrm>
            <a:off x="609600" y="6419850"/>
            <a:ext cx="2476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900" b="1">
                <a:solidFill>
                  <a:srgbClr val="5F5F5F"/>
                </a:solidFill>
                <a:latin typeface="Malgun Gothic"/>
                <a:ea typeface="Malgun Gothic"/>
              </a:rPr>
              <a:t>CLIENT DEVELOPER PORTFOLIO</a:t>
            </a:r>
            <a:endParaRPr lang="ko-KR" sz="900"/>
          </a:p>
        </p:txBody>
      </p:sp>
      <p:sp>
        <p:nvSpPr>
          <p:cNvPr id="6" name="footer-page"/>
          <p:cNvSpPr txBox="1"/>
          <p:nvPr/>
        </p:nvSpPr>
        <p:spPr>
          <a:xfrm>
            <a:off x="11049000" y="6419850"/>
            <a:ext cx="5334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/>
            <a:r>
              <a:rPr lang="ko-KR" sz="1000" b="1">
                <a:solidFill>
                  <a:srgbClr val="5F5F5F"/>
                </a:solidFill>
                <a:latin typeface="Malgun Gothic"/>
                <a:ea typeface="Malgun Gothic"/>
              </a:rPr>
              <a:t>08</a:t>
            </a:r>
            <a:endParaRPr lang="ko-KR" sz="1000"/>
          </a:p>
        </p:txBody>
      </p:sp>
      <p:sp>
        <p:nvSpPr>
          <p:cNvPr id="7" name="node-Input System"/>
          <p:cNvSpPr txBox="1"/>
          <p:nvPr/>
        </p:nvSpPr>
        <p:spPr>
          <a:xfrm>
            <a:off x="1009650" y="2305050"/>
            <a:ext cx="142875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2C5"/>
            </a:solidFill>
          </a:ln>
        </p:spPr>
        <p:txBody>
          <a:bodyPr wrap="square" anchor="ctr" lIns="47625" rIns="47625" tIns="47625" bIns="47625">
            <a:spAutoFit/>
          </a:bodyPr>
          <a:lstStyle/>
          <a:p>
            <a:pPr algn="c"/>
            <a:r>
              <a:rPr lang="ko-KR" sz="1800" b="1">
                <a:solidFill>
                  <a:srgbClr val="111111"/>
                </a:solidFill>
                <a:latin typeface="Malgun Gothic"/>
                <a:ea typeface="Malgun Gothic"/>
              </a:rPr>
              <a:t>Input</a:t>
            </a:r>
            <a:endParaRPr lang="ko-KR" sz="1800"/>
          </a:p>
          <a:p>
            <a:pPr algn="c"/>
            <a:r>
              <a:rPr lang="ko-KR" sz="1800" b="1">
                <a:solidFill>
                  <a:srgbClr val="111111"/>
                </a:solidFill>
                <a:latin typeface="Malgun Gothic"/>
                <a:ea typeface="Malgun Gothic"/>
              </a:rPr>
              <a:t>System</a:t>
            </a:r>
            <a:endParaRPr lang="ko-KR" sz="1800"/>
          </a:p>
        </p:txBody>
      </p:sp>
      <p:sp>
        <p:nvSpPr>
          <p:cNvPr id="8" name="node-Player Controller"/>
          <p:cNvSpPr txBox="1"/>
          <p:nvPr/>
        </p:nvSpPr>
        <p:spPr>
          <a:xfrm>
            <a:off x="3105150" y="2305050"/>
            <a:ext cx="142875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2C5"/>
            </a:solidFill>
          </a:ln>
        </p:spPr>
        <p:txBody>
          <a:bodyPr wrap="square" anchor="ctr" lIns="47625" rIns="47625" tIns="47625" bIns="47625">
            <a:spAutoFit/>
          </a:bodyPr>
          <a:lstStyle/>
          <a:p>
            <a:pPr algn="c"/>
            <a:r>
              <a:rPr lang="ko-KR" sz="1800" b="1">
                <a:solidFill>
                  <a:srgbClr val="111111"/>
                </a:solidFill>
                <a:latin typeface="Malgun Gothic"/>
                <a:ea typeface="Malgun Gothic"/>
              </a:rPr>
              <a:t>Player</a:t>
            </a:r>
            <a:endParaRPr lang="ko-KR" sz="1800"/>
          </a:p>
          <a:p>
            <a:pPr algn="c"/>
            <a:r>
              <a:rPr lang="ko-KR" sz="1800" b="1">
                <a:solidFill>
                  <a:srgbClr val="111111"/>
                </a:solidFill>
                <a:latin typeface="Malgun Gothic"/>
                <a:ea typeface="Malgun Gothic"/>
              </a:rPr>
              <a:t>Controller</a:t>
            </a:r>
            <a:endParaRPr lang="ko-KR" sz="1800"/>
          </a:p>
        </p:txBody>
      </p:sp>
      <p:sp>
        <p:nvSpPr>
          <p:cNvPr id="9" name="node-Game State"/>
          <p:cNvSpPr txBox="1"/>
          <p:nvPr/>
        </p:nvSpPr>
        <p:spPr>
          <a:xfrm>
            <a:off x="5200650" y="2305050"/>
            <a:ext cx="142875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2C5"/>
            </a:solidFill>
          </a:ln>
        </p:spPr>
        <p:txBody>
          <a:bodyPr wrap="square" anchor="ctr" lIns="47625" rIns="47625" tIns="47625" bIns="47625">
            <a:spAutoFit/>
          </a:bodyPr>
          <a:lstStyle/>
          <a:p>
            <a:pPr algn="c"/>
            <a:r>
              <a:rPr lang="ko-KR" sz="1800" b="1">
                <a:solidFill>
                  <a:srgbClr val="111111"/>
                </a:solidFill>
                <a:latin typeface="Malgun Gothic"/>
                <a:ea typeface="Malgun Gothic"/>
              </a:rPr>
              <a:t>Game</a:t>
            </a:r>
            <a:endParaRPr lang="ko-KR" sz="1800"/>
          </a:p>
          <a:p>
            <a:pPr algn="c"/>
            <a:r>
              <a:rPr lang="ko-KR" sz="1800" b="1">
                <a:solidFill>
                  <a:srgbClr val="111111"/>
                </a:solidFill>
                <a:latin typeface="Malgun Gothic"/>
                <a:ea typeface="Malgun Gothic"/>
              </a:rPr>
              <a:t>State</a:t>
            </a:r>
            <a:endParaRPr lang="ko-KR" sz="1800"/>
          </a:p>
        </p:txBody>
      </p:sp>
      <p:sp>
        <p:nvSpPr>
          <p:cNvPr id="10" name="node-UI / HUD"/>
          <p:cNvSpPr txBox="1"/>
          <p:nvPr/>
        </p:nvSpPr>
        <p:spPr>
          <a:xfrm>
            <a:off x="7296150" y="2305050"/>
            <a:ext cx="142875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2C5"/>
            </a:solidFill>
          </a:ln>
        </p:spPr>
        <p:txBody>
          <a:bodyPr wrap="square" anchor="ctr" lIns="47625" rIns="47625" tIns="47625" bIns="47625">
            <a:spAutoFit/>
          </a:bodyPr>
          <a:lstStyle/>
          <a:p>
            <a:pPr algn="c"/>
            <a:r>
              <a:rPr lang="ko-KR" sz="1800" b="1">
                <a:solidFill>
                  <a:srgbClr val="111111"/>
                </a:solidFill>
                <a:latin typeface="Malgun Gothic"/>
                <a:ea typeface="Malgun Gothic"/>
              </a:rPr>
              <a:t>UI / HUD</a:t>
            </a:r>
            <a:endParaRPr lang="ko-KR" sz="1800"/>
          </a:p>
        </p:txBody>
      </p:sp>
      <p:sp>
        <p:nvSpPr>
          <p:cNvPr id="11" name="node-Feedback Sound/VFX"/>
          <p:cNvSpPr txBox="1"/>
          <p:nvPr/>
        </p:nvSpPr>
        <p:spPr>
          <a:xfrm>
            <a:off x="9391650" y="2305050"/>
            <a:ext cx="142875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2C5"/>
            </a:solidFill>
          </a:ln>
        </p:spPr>
        <p:txBody>
          <a:bodyPr wrap="square" anchor="ctr" lIns="47625" rIns="47625" tIns="47625" bIns="47625">
            <a:spAutoFit/>
          </a:bodyPr>
          <a:lstStyle/>
          <a:p>
            <a:pPr algn="c"/>
            <a:r>
              <a:rPr lang="ko-KR" sz="1800" b="1">
                <a:solidFill>
                  <a:srgbClr val="111111"/>
                </a:solidFill>
                <a:latin typeface="Malgun Gothic"/>
                <a:ea typeface="Malgun Gothic"/>
              </a:rPr>
              <a:t>Feedback</a:t>
            </a:r>
            <a:endParaRPr lang="ko-KR" sz="1800"/>
          </a:p>
          <a:p>
            <a:pPr algn="c"/>
            <a:r>
              <a:rPr lang="ko-KR" sz="1800" b="1">
                <a:solidFill>
                  <a:srgbClr val="111111"/>
                </a:solidFill>
                <a:latin typeface="Malgun Gothic"/>
                <a:ea typeface="Malgun Gothic"/>
              </a:rPr>
              <a:t>Sound/VFX</a:t>
            </a:r>
            <a:endParaRPr lang="ko-KR" sz="1800"/>
          </a:p>
        </p:txBody>
      </p:sp>
      <p:sp>
        <p:nvSpPr>
          <p:cNvPr id="12" name="flow-line"/>
          <p:cNvSpPr/>
          <p:nvPr/>
        </p:nvSpPr>
        <p:spPr>
          <a:xfrm>
            <a:off x="2533650" y="2724150"/>
            <a:ext cx="361950" cy="76200"/>
          </a:xfrm>
          <a:prstGeom prst="rect">
            <a:avLst/>
          </a:prstGeom>
          <a:solidFill>
            <a:srgbClr val="0E5AA7"/>
          </a:solidFill>
          <a:ln>
            <a:noFill/>
          </a:ln>
        </p:spPr>
      </p:sp>
      <p:sp>
        <p:nvSpPr>
          <p:cNvPr id="13" name="flow-dot"/>
          <p:cNvSpPr/>
          <p:nvPr/>
        </p:nvSpPr>
        <p:spPr>
          <a:xfrm>
            <a:off x="2876550" y="2628900"/>
            <a:ext cx="209550" cy="266700"/>
          </a:xfrm>
          <a:prstGeom prst="rtTriangle">
            <a:avLst/>
          </a:prstGeom>
          <a:solidFill>
            <a:srgbClr val="0E5AA7"/>
          </a:solidFill>
          <a:ln>
            <a:noFill/>
          </a:ln>
        </p:spPr>
      </p:sp>
      <p:sp>
        <p:nvSpPr>
          <p:cNvPr id="14" name="flow-line"/>
          <p:cNvSpPr/>
          <p:nvPr/>
        </p:nvSpPr>
        <p:spPr>
          <a:xfrm>
            <a:off x="4629150" y="2724150"/>
            <a:ext cx="361950" cy="76200"/>
          </a:xfrm>
          <a:prstGeom prst="rect">
            <a:avLst/>
          </a:prstGeom>
          <a:solidFill>
            <a:srgbClr val="0E5AA7"/>
          </a:solidFill>
          <a:ln>
            <a:noFill/>
          </a:ln>
        </p:spPr>
      </p:sp>
      <p:sp>
        <p:nvSpPr>
          <p:cNvPr id="15" name="flow-dot"/>
          <p:cNvSpPr/>
          <p:nvPr/>
        </p:nvSpPr>
        <p:spPr>
          <a:xfrm>
            <a:off x="4972050" y="2628900"/>
            <a:ext cx="209550" cy="266700"/>
          </a:xfrm>
          <a:prstGeom prst="rtTriangle">
            <a:avLst/>
          </a:prstGeom>
          <a:solidFill>
            <a:srgbClr val="0E5AA7"/>
          </a:solidFill>
          <a:ln>
            <a:noFill/>
          </a:ln>
        </p:spPr>
      </p:sp>
      <p:sp>
        <p:nvSpPr>
          <p:cNvPr id="16" name="flow-line"/>
          <p:cNvSpPr/>
          <p:nvPr/>
        </p:nvSpPr>
        <p:spPr>
          <a:xfrm>
            <a:off x="6724650" y="2724150"/>
            <a:ext cx="361950" cy="76200"/>
          </a:xfrm>
          <a:prstGeom prst="rect">
            <a:avLst/>
          </a:prstGeom>
          <a:solidFill>
            <a:srgbClr val="0E5AA7"/>
          </a:solidFill>
          <a:ln>
            <a:noFill/>
          </a:ln>
        </p:spPr>
      </p:sp>
      <p:sp>
        <p:nvSpPr>
          <p:cNvPr id="17" name="flow-dot"/>
          <p:cNvSpPr/>
          <p:nvPr/>
        </p:nvSpPr>
        <p:spPr>
          <a:xfrm>
            <a:off x="7067550" y="2628900"/>
            <a:ext cx="209550" cy="266700"/>
          </a:xfrm>
          <a:prstGeom prst="rtTriangle">
            <a:avLst/>
          </a:prstGeom>
          <a:solidFill>
            <a:srgbClr val="0E5AA7"/>
          </a:solidFill>
          <a:ln>
            <a:noFill/>
          </a:ln>
        </p:spPr>
      </p:sp>
      <p:sp>
        <p:nvSpPr>
          <p:cNvPr id="18" name="flow-line"/>
          <p:cNvSpPr/>
          <p:nvPr/>
        </p:nvSpPr>
        <p:spPr>
          <a:xfrm>
            <a:off x="8820150" y="2724150"/>
            <a:ext cx="361950" cy="76200"/>
          </a:xfrm>
          <a:prstGeom prst="rect">
            <a:avLst/>
          </a:prstGeom>
          <a:solidFill>
            <a:srgbClr val="0E5AA7"/>
          </a:solidFill>
          <a:ln>
            <a:noFill/>
          </a:ln>
        </p:spPr>
      </p:sp>
      <p:sp>
        <p:nvSpPr>
          <p:cNvPr id="19" name="flow-dot"/>
          <p:cNvSpPr/>
          <p:nvPr/>
        </p:nvSpPr>
        <p:spPr>
          <a:xfrm>
            <a:off x="9163050" y="2628900"/>
            <a:ext cx="209550" cy="266700"/>
          </a:xfrm>
          <a:prstGeom prst="rtTriangle">
            <a:avLst/>
          </a:prstGeom>
          <a:solidFill>
            <a:srgbClr val="0E5AA7"/>
          </a:solidFill>
          <a:ln>
            <a:noFill/>
          </a:ln>
        </p:spPr>
      </p:sp>
      <p:sp>
        <p:nvSpPr>
          <p:cNvPr id="20" name="arch-desc"/>
          <p:cNvSpPr txBox="1"/>
          <p:nvPr/>
        </p:nvSpPr>
        <p:spPr>
          <a:xfrm>
            <a:off x="1238250" y="3810000"/>
            <a:ext cx="9334500" cy="7429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"/>
            <a:r>
              <a:rPr lang="ko-KR" sz="2100">
                <a:solidFill>
                  <a:srgbClr val="5F5F5F"/>
                </a:solidFill>
                <a:latin typeface="Malgun Gothic"/>
                <a:ea typeface="Malgun Gothic"/>
              </a:rPr>
              <a:t>면접용 구조도는 완전한 UML보다 '내 코드가 어디에 있고 어떤 책임을 갖는지'가 빠르게 읽히는 정도가 좋습니다.</a:t>
            </a:r>
            <a:endParaRPr lang="ko-KR" sz="2100"/>
          </a:p>
        </p:txBody>
      </p:sp>
      <p:sp>
        <p:nvSpPr>
          <p:cNvPr id="21" name="card-데이터 흐름"/>
          <p:cNvSpPr/>
          <p:nvPr/>
        </p:nvSpPr>
        <p:spPr>
          <a:xfrm>
            <a:off x="1676400" y="4838700"/>
            <a:ext cx="2476500" cy="819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2C5"/>
            </a:solidFill>
          </a:ln>
        </p:spPr>
      </p:sp>
      <p:sp>
        <p:nvSpPr>
          <p:cNvPr id="22" name="card-heading-데이터 흐름"/>
          <p:cNvSpPr txBox="1"/>
          <p:nvPr/>
        </p:nvSpPr>
        <p:spPr>
          <a:xfrm>
            <a:off x="1885950" y="5029200"/>
            <a:ext cx="20574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2000" b="1">
                <a:solidFill>
                  <a:srgbClr val="111111"/>
                </a:solidFill>
                <a:latin typeface="Malgun Gothic"/>
                <a:ea typeface="Malgun Gothic"/>
              </a:rPr>
              <a:t>데이터 흐름</a:t>
            </a:r>
            <a:endParaRPr lang="ko-KR" sz="2000"/>
          </a:p>
        </p:txBody>
      </p:sp>
      <p:sp>
        <p:nvSpPr>
          <p:cNvPr id="23" name="card-body-데이터 흐름"/>
          <p:cNvSpPr txBox="1"/>
          <p:nvPr/>
        </p:nvSpPr>
        <p:spPr>
          <a:xfrm>
            <a:off x="1885950" y="5448300"/>
            <a:ext cx="2057400" cy="190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입력 -&gt; 상태 -&gt; UI/피드백</a:t>
            </a:r>
            <a:endParaRPr lang="ko-KR" sz="1500"/>
          </a:p>
        </p:txBody>
      </p:sp>
      <p:sp>
        <p:nvSpPr>
          <p:cNvPr id="24" name="card-확장 지점"/>
          <p:cNvSpPr/>
          <p:nvPr/>
        </p:nvSpPr>
        <p:spPr>
          <a:xfrm>
            <a:off x="4857750" y="4838700"/>
            <a:ext cx="2476500" cy="819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2C5"/>
            </a:solidFill>
          </a:ln>
        </p:spPr>
      </p:sp>
      <p:sp>
        <p:nvSpPr>
          <p:cNvPr id="25" name="card-heading-확장 지점"/>
          <p:cNvSpPr txBox="1"/>
          <p:nvPr/>
        </p:nvSpPr>
        <p:spPr>
          <a:xfrm>
            <a:off x="5067300" y="5029200"/>
            <a:ext cx="20574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2000" b="1">
                <a:solidFill>
                  <a:srgbClr val="111111"/>
                </a:solidFill>
                <a:latin typeface="Malgun Gothic"/>
                <a:ea typeface="Malgun Gothic"/>
              </a:rPr>
              <a:t>확장 지점</a:t>
            </a:r>
            <a:endParaRPr lang="ko-KR" sz="2000"/>
          </a:p>
        </p:txBody>
      </p:sp>
      <p:sp>
        <p:nvSpPr>
          <p:cNvPr id="26" name="card-body-확장 지점"/>
          <p:cNvSpPr txBox="1"/>
          <p:nvPr/>
        </p:nvSpPr>
        <p:spPr>
          <a:xfrm>
            <a:off x="5067300" y="5448300"/>
            <a:ext cx="2057400" cy="190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스킬, 아이템, 옵션, 저장</a:t>
            </a:r>
            <a:endParaRPr lang="ko-KR" sz="1500"/>
          </a:p>
        </p:txBody>
      </p:sp>
      <p:sp>
        <p:nvSpPr>
          <p:cNvPr id="27" name="card-검증 방법"/>
          <p:cNvSpPr/>
          <p:nvPr/>
        </p:nvSpPr>
        <p:spPr>
          <a:xfrm>
            <a:off x="8039100" y="4838700"/>
            <a:ext cx="2476500" cy="819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2C5"/>
            </a:solidFill>
          </a:ln>
        </p:spPr>
      </p:sp>
      <p:sp>
        <p:nvSpPr>
          <p:cNvPr id="28" name="card-heading-검증 방법"/>
          <p:cNvSpPr txBox="1"/>
          <p:nvPr/>
        </p:nvSpPr>
        <p:spPr>
          <a:xfrm>
            <a:off x="8248650" y="5029200"/>
            <a:ext cx="20574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2000" b="1">
                <a:solidFill>
                  <a:srgbClr val="111111"/>
                </a:solidFill>
                <a:latin typeface="Malgun Gothic"/>
                <a:ea typeface="Malgun Gothic"/>
              </a:rPr>
              <a:t>검증 방법</a:t>
            </a:r>
            <a:endParaRPr lang="ko-KR" sz="2000"/>
          </a:p>
        </p:txBody>
      </p:sp>
      <p:sp>
        <p:nvSpPr>
          <p:cNvPr id="29" name="card-body-검증 방법"/>
          <p:cNvSpPr txBox="1"/>
          <p:nvPr/>
        </p:nvSpPr>
        <p:spPr>
          <a:xfrm>
            <a:off x="8248650" y="5448300"/>
            <a:ext cx="2057400" cy="190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플레이 테스트, 로그, 프로파일러</a:t>
            </a:r>
            <a:endParaRPr lang="ko-KR"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edule-title"/>
          <p:cNvSpPr txBox="1"/>
          <p:nvPr/>
        </p:nvSpPr>
        <p:spPr>
          <a:xfrm>
            <a:off x="3429000" y="476250"/>
            <a:ext cx="5334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"/>
            <a:r>
              <a:rPr lang="ko-KR" sz="2800" b="1">
                <a:solidFill>
                  <a:srgbClr val="111111"/>
                </a:solidFill>
                <a:latin typeface="Malgun Gothic"/>
                <a:ea typeface="Malgun Gothic"/>
              </a:rPr>
              <a:t>팀원간의 간트 차트로 진행 공유</a:t>
            </a:r>
            <a:endParaRPr lang="ko-KR" sz="2800"/>
          </a:p>
        </p:txBody>
      </p:sp>
      <p:sp>
        <p:nvSpPr>
          <p:cNvPr id="3" name="schedule-section"/>
          <p:cNvSpPr txBox="1"/>
          <p:nvPr/>
        </p:nvSpPr>
        <p:spPr>
          <a:xfrm>
            <a:off x="609600" y="552450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2400" b="1">
                <a:solidFill>
                  <a:srgbClr val="111111"/>
                </a:solidFill>
                <a:latin typeface="Malgun Gothic"/>
                <a:ea typeface="Malgun Gothic"/>
              </a:rPr>
              <a:t>Collaboration</a:t>
            </a:r>
            <a:endParaRPr lang="ko-KR" sz="2400"/>
          </a:p>
        </p:txBody>
      </p:sp>
      <p:sp>
        <p:nvSpPr>
          <p:cNvPr id="4" name="table-r0-c0"/>
          <p:cNvSpPr txBox="1"/>
          <p:nvPr/>
        </p:nvSpPr>
        <p:spPr>
          <a:xfrm>
            <a:off x="685800" y="1143000"/>
            <a:ext cx="3429000" cy="400050"/>
          </a:xfrm>
          <a:prstGeom prst="rect">
            <a:avLst/>
          </a:prstGeom>
          <a:solidFill>
            <a:srgbClr val="2E6A2D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</a:rPr>
              <a:t>작업 내용</a:t>
            </a:r>
            <a:endParaRPr lang="ko-KR" sz="1200"/>
          </a:p>
        </p:txBody>
      </p:sp>
      <p:sp>
        <p:nvSpPr>
          <p:cNvPr id="5" name="table-r0-c1"/>
          <p:cNvSpPr txBox="1"/>
          <p:nvPr/>
        </p:nvSpPr>
        <p:spPr>
          <a:xfrm>
            <a:off x="4114800" y="1143000"/>
            <a:ext cx="1143000" cy="400050"/>
          </a:xfrm>
          <a:prstGeom prst="rect">
            <a:avLst/>
          </a:prstGeom>
          <a:solidFill>
            <a:srgbClr val="2E6A2D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</a:rPr>
              <a:t>우선도</a:t>
            </a:r>
            <a:endParaRPr lang="ko-KR" sz="1200"/>
          </a:p>
        </p:txBody>
      </p:sp>
      <p:sp>
        <p:nvSpPr>
          <p:cNvPr id="6" name="table-r0-c2"/>
          <p:cNvSpPr txBox="1"/>
          <p:nvPr/>
        </p:nvSpPr>
        <p:spPr>
          <a:xfrm>
            <a:off x="5257800" y="1143000"/>
            <a:ext cx="857250" cy="400050"/>
          </a:xfrm>
          <a:prstGeom prst="rect">
            <a:avLst/>
          </a:prstGeom>
          <a:solidFill>
            <a:srgbClr val="2E6A2D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</a:rPr>
              <a:t>W1</a:t>
            </a:r>
            <a:endParaRPr lang="ko-KR" sz="1200"/>
          </a:p>
        </p:txBody>
      </p:sp>
      <p:sp>
        <p:nvSpPr>
          <p:cNvPr id="7" name="table-r0-c3"/>
          <p:cNvSpPr txBox="1"/>
          <p:nvPr/>
        </p:nvSpPr>
        <p:spPr>
          <a:xfrm>
            <a:off x="6115050" y="1143000"/>
            <a:ext cx="857250" cy="400050"/>
          </a:xfrm>
          <a:prstGeom prst="rect">
            <a:avLst/>
          </a:prstGeom>
          <a:solidFill>
            <a:srgbClr val="2E6A2D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</a:rPr>
              <a:t>W2</a:t>
            </a:r>
            <a:endParaRPr lang="ko-KR" sz="1200"/>
          </a:p>
        </p:txBody>
      </p:sp>
      <p:sp>
        <p:nvSpPr>
          <p:cNvPr id="8" name="table-r0-c4"/>
          <p:cNvSpPr txBox="1"/>
          <p:nvPr/>
        </p:nvSpPr>
        <p:spPr>
          <a:xfrm>
            <a:off x="6972300" y="1143000"/>
            <a:ext cx="857250" cy="400050"/>
          </a:xfrm>
          <a:prstGeom prst="rect">
            <a:avLst/>
          </a:prstGeom>
          <a:solidFill>
            <a:srgbClr val="2E6A2D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</a:rPr>
              <a:t>W3</a:t>
            </a:r>
            <a:endParaRPr lang="ko-KR" sz="1200"/>
          </a:p>
        </p:txBody>
      </p:sp>
      <p:sp>
        <p:nvSpPr>
          <p:cNvPr id="9" name="table-r0-c5"/>
          <p:cNvSpPr txBox="1"/>
          <p:nvPr/>
        </p:nvSpPr>
        <p:spPr>
          <a:xfrm>
            <a:off x="7829550" y="1143000"/>
            <a:ext cx="857250" cy="400050"/>
          </a:xfrm>
          <a:prstGeom prst="rect">
            <a:avLst/>
          </a:prstGeom>
          <a:solidFill>
            <a:srgbClr val="2E6A2D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</a:rPr>
              <a:t>W4</a:t>
            </a:r>
            <a:endParaRPr lang="ko-KR" sz="1200"/>
          </a:p>
        </p:txBody>
      </p:sp>
      <p:sp>
        <p:nvSpPr>
          <p:cNvPr id="10" name="table-r0-c6"/>
          <p:cNvSpPr txBox="1"/>
          <p:nvPr/>
        </p:nvSpPr>
        <p:spPr>
          <a:xfrm>
            <a:off x="8686800" y="1143000"/>
            <a:ext cx="1428750" cy="400050"/>
          </a:xfrm>
          <a:prstGeom prst="rect">
            <a:avLst/>
          </a:prstGeom>
          <a:solidFill>
            <a:srgbClr val="2E6A2D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 b="1">
                <a:solidFill>
                  <a:srgbClr val="FFFFFF"/>
                </a:solidFill>
                <a:latin typeface="Malgun Gothic"/>
                <a:ea typeface="Malgun Gothic"/>
              </a:rPr>
              <a:t>비고</a:t>
            </a:r>
            <a:endParaRPr lang="ko-KR" sz="1200"/>
          </a:p>
        </p:txBody>
      </p:sp>
      <p:sp>
        <p:nvSpPr>
          <p:cNvPr id="11" name="table-r1-c0"/>
          <p:cNvSpPr txBox="1"/>
          <p:nvPr/>
        </p:nvSpPr>
        <p:spPr>
          <a:xfrm>
            <a:off x="685800" y="1543050"/>
            <a:ext cx="3429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>플레이어 이동/점프</a:t>
            </a:r>
            <a:endParaRPr lang="ko-KR" sz="1200"/>
          </a:p>
        </p:txBody>
      </p:sp>
      <p:sp>
        <p:nvSpPr>
          <p:cNvPr id="12" name="table-r1-c1"/>
          <p:cNvSpPr txBox="1"/>
          <p:nvPr/>
        </p:nvSpPr>
        <p:spPr>
          <a:xfrm>
            <a:off x="4114800" y="1543050"/>
            <a:ext cx="1143000" cy="514350"/>
          </a:xfrm>
          <a:prstGeom prst="rect">
            <a:avLst/>
          </a:prstGeom>
          <a:solidFill>
            <a:srgbClr val="D94F4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FFFFFF"/>
                </a:solidFill>
                <a:latin typeface="Malgun Gothic"/>
                <a:ea typeface="Malgun Gothic"/>
              </a:rPr>
              <a:t>매우 높음</a:t>
            </a:r>
            <a:endParaRPr lang="ko-KR" sz="1200"/>
          </a:p>
        </p:txBody>
      </p:sp>
      <p:sp>
        <p:nvSpPr>
          <p:cNvPr id="13" name="table-r1-c2"/>
          <p:cNvSpPr txBox="1"/>
          <p:nvPr/>
        </p:nvSpPr>
        <p:spPr>
          <a:xfrm>
            <a:off x="5257800" y="1543050"/>
            <a:ext cx="857250" cy="514350"/>
          </a:xfrm>
          <a:prstGeom prst="rect">
            <a:avLst/>
          </a:prstGeom>
          <a:solidFill>
            <a:srgbClr val="6BA84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>완료</a:t>
            </a:r>
            <a:endParaRPr lang="ko-KR" sz="1200"/>
          </a:p>
        </p:txBody>
      </p:sp>
      <p:sp>
        <p:nvSpPr>
          <p:cNvPr id="14" name="table-r1-c3"/>
          <p:cNvSpPr txBox="1"/>
          <p:nvPr/>
        </p:nvSpPr>
        <p:spPr>
          <a:xfrm>
            <a:off x="6115050" y="1543050"/>
            <a:ext cx="8572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/>
            </a:r>
            <a:endParaRPr lang="ko-KR" sz="1200"/>
          </a:p>
        </p:txBody>
      </p:sp>
      <p:sp>
        <p:nvSpPr>
          <p:cNvPr id="15" name="table-r1-c4"/>
          <p:cNvSpPr txBox="1"/>
          <p:nvPr/>
        </p:nvSpPr>
        <p:spPr>
          <a:xfrm>
            <a:off x="6972300" y="1543050"/>
            <a:ext cx="8572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/>
            </a:r>
            <a:endParaRPr lang="ko-KR" sz="1200"/>
          </a:p>
        </p:txBody>
      </p:sp>
      <p:sp>
        <p:nvSpPr>
          <p:cNvPr id="16" name="table-r1-c5"/>
          <p:cNvSpPr txBox="1"/>
          <p:nvPr/>
        </p:nvSpPr>
        <p:spPr>
          <a:xfrm>
            <a:off x="7829550" y="1543050"/>
            <a:ext cx="8572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/>
            </a:r>
            <a:endParaRPr lang="ko-KR" sz="1200"/>
          </a:p>
        </p:txBody>
      </p:sp>
      <p:sp>
        <p:nvSpPr>
          <p:cNvPr id="17" name="table-r1-c6"/>
          <p:cNvSpPr txBox="1"/>
          <p:nvPr/>
        </p:nvSpPr>
        <p:spPr>
          <a:xfrm>
            <a:off x="8686800" y="1543050"/>
            <a:ext cx="1428750" cy="514350"/>
          </a:xfrm>
          <a:prstGeom prst="rect">
            <a:avLst/>
          </a:prstGeom>
          <a:solidFill>
            <a:srgbClr val="6BA84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>완료</a:t>
            </a:r>
            <a:endParaRPr lang="ko-KR" sz="1200"/>
          </a:p>
        </p:txBody>
      </p:sp>
      <p:sp>
        <p:nvSpPr>
          <p:cNvPr id="18" name="table-r2-c0"/>
          <p:cNvSpPr txBox="1"/>
          <p:nvPr/>
        </p:nvSpPr>
        <p:spPr>
          <a:xfrm>
            <a:off x="685800" y="2057400"/>
            <a:ext cx="3429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>카메라 추적/보정</a:t>
            </a:r>
            <a:endParaRPr lang="ko-KR" sz="1200"/>
          </a:p>
        </p:txBody>
      </p:sp>
      <p:sp>
        <p:nvSpPr>
          <p:cNvPr id="19" name="table-r2-c1"/>
          <p:cNvSpPr txBox="1"/>
          <p:nvPr/>
        </p:nvSpPr>
        <p:spPr>
          <a:xfrm>
            <a:off x="4114800" y="2057400"/>
            <a:ext cx="1143000" cy="514350"/>
          </a:xfrm>
          <a:prstGeom prst="rect">
            <a:avLst/>
          </a:prstGeom>
          <a:solidFill>
            <a:srgbClr val="F2A541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>높음</a:t>
            </a:r>
            <a:endParaRPr lang="ko-KR" sz="1200"/>
          </a:p>
        </p:txBody>
      </p:sp>
      <p:sp>
        <p:nvSpPr>
          <p:cNvPr id="20" name="table-r2-c2"/>
          <p:cNvSpPr txBox="1"/>
          <p:nvPr/>
        </p:nvSpPr>
        <p:spPr>
          <a:xfrm>
            <a:off x="5257800" y="2057400"/>
            <a:ext cx="857250" cy="514350"/>
          </a:xfrm>
          <a:prstGeom prst="rect">
            <a:avLst/>
          </a:prstGeom>
          <a:solidFill>
            <a:srgbClr val="D94F4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FFFFFF"/>
                </a:solidFill>
                <a:latin typeface="Malgun Gothic"/>
                <a:ea typeface="Malgun Gothic"/>
              </a:rPr>
              <a:t>진행</a:t>
            </a:r>
            <a:endParaRPr lang="ko-KR" sz="1200"/>
          </a:p>
        </p:txBody>
      </p:sp>
      <p:sp>
        <p:nvSpPr>
          <p:cNvPr id="21" name="table-r2-c3"/>
          <p:cNvSpPr txBox="1"/>
          <p:nvPr/>
        </p:nvSpPr>
        <p:spPr>
          <a:xfrm>
            <a:off x="6115050" y="2057400"/>
            <a:ext cx="857250" cy="514350"/>
          </a:xfrm>
          <a:prstGeom prst="rect">
            <a:avLst/>
          </a:prstGeom>
          <a:solidFill>
            <a:srgbClr val="6BA84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>완료</a:t>
            </a:r>
            <a:endParaRPr lang="ko-KR" sz="1200"/>
          </a:p>
        </p:txBody>
      </p:sp>
      <p:sp>
        <p:nvSpPr>
          <p:cNvPr id="22" name="table-r2-c4"/>
          <p:cNvSpPr txBox="1"/>
          <p:nvPr/>
        </p:nvSpPr>
        <p:spPr>
          <a:xfrm>
            <a:off x="6972300" y="2057400"/>
            <a:ext cx="8572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/>
            </a:r>
            <a:endParaRPr lang="ko-KR" sz="1200"/>
          </a:p>
        </p:txBody>
      </p:sp>
      <p:sp>
        <p:nvSpPr>
          <p:cNvPr id="23" name="table-r2-c5"/>
          <p:cNvSpPr txBox="1"/>
          <p:nvPr/>
        </p:nvSpPr>
        <p:spPr>
          <a:xfrm>
            <a:off x="7829550" y="2057400"/>
            <a:ext cx="8572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/>
            </a:r>
            <a:endParaRPr lang="ko-KR" sz="1200"/>
          </a:p>
        </p:txBody>
      </p:sp>
      <p:sp>
        <p:nvSpPr>
          <p:cNvPr id="24" name="table-r2-c6"/>
          <p:cNvSpPr txBox="1"/>
          <p:nvPr/>
        </p:nvSpPr>
        <p:spPr>
          <a:xfrm>
            <a:off x="8686800" y="2057400"/>
            <a:ext cx="1428750" cy="514350"/>
          </a:xfrm>
          <a:prstGeom prst="rect">
            <a:avLst/>
          </a:prstGeom>
          <a:solidFill>
            <a:srgbClr val="6BA84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>완료</a:t>
            </a:r>
            <a:endParaRPr lang="ko-KR" sz="1200"/>
          </a:p>
        </p:txBody>
      </p:sp>
      <p:sp>
        <p:nvSpPr>
          <p:cNvPr id="25" name="table-r3-c0"/>
          <p:cNvSpPr txBox="1"/>
          <p:nvPr/>
        </p:nvSpPr>
        <p:spPr>
          <a:xfrm>
            <a:off x="685800" y="2571750"/>
            <a:ext cx="3429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>HUD/메뉴 UI</a:t>
            </a:r>
            <a:endParaRPr lang="ko-KR" sz="1200"/>
          </a:p>
        </p:txBody>
      </p:sp>
      <p:sp>
        <p:nvSpPr>
          <p:cNvPr id="26" name="table-r3-c1"/>
          <p:cNvSpPr txBox="1"/>
          <p:nvPr/>
        </p:nvSpPr>
        <p:spPr>
          <a:xfrm>
            <a:off x="4114800" y="2571750"/>
            <a:ext cx="1143000" cy="514350"/>
          </a:xfrm>
          <a:prstGeom prst="rect">
            <a:avLst/>
          </a:prstGeom>
          <a:solidFill>
            <a:srgbClr val="F2A541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>높음</a:t>
            </a:r>
            <a:endParaRPr lang="ko-KR" sz="1200"/>
          </a:p>
        </p:txBody>
      </p:sp>
      <p:sp>
        <p:nvSpPr>
          <p:cNvPr id="27" name="table-r3-c2"/>
          <p:cNvSpPr txBox="1"/>
          <p:nvPr/>
        </p:nvSpPr>
        <p:spPr>
          <a:xfrm>
            <a:off x="5257800" y="2571750"/>
            <a:ext cx="8572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/>
            </a:r>
            <a:endParaRPr lang="ko-KR" sz="1200"/>
          </a:p>
        </p:txBody>
      </p:sp>
      <p:sp>
        <p:nvSpPr>
          <p:cNvPr id="28" name="table-r3-c3"/>
          <p:cNvSpPr txBox="1"/>
          <p:nvPr/>
        </p:nvSpPr>
        <p:spPr>
          <a:xfrm>
            <a:off x="6115050" y="2571750"/>
            <a:ext cx="857250" cy="514350"/>
          </a:xfrm>
          <a:prstGeom prst="rect">
            <a:avLst/>
          </a:prstGeom>
          <a:solidFill>
            <a:srgbClr val="D94F4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FFFFFF"/>
                </a:solidFill>
                <a:latin typeface="Malgun Gothic"/>
                <a:ea typeface="Malgun Gothic"/>
              </a:rPr>
              <a:t>진행</a:t>
            </a:r>
            <a:endParaRPr lang="ko-KR" sz="1200"/>
          </a:p>
        </p:txBody>
      </p:sp>
      <p:sp>
        <p:nvSpPr>
          <p:cNvPr id="29" name="table-r3-c4"/>
          <p:cNvSpPr txBox="1"/>
          <p:nvPr/>
        </p:nvSpPr>
        <p:spPr>
          <a:xfrm>
            <a:off x="6972300" y="2571750"/>
            <a:ext cx="857250" cy="514350"/>
          </a:xfrm>
          <a:prstGeom prst="rect">
            <a:avLst/>
          </a:prstGeom>
          <a:solidFill>
            <a:srgbClr val="6BA84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>완료</a:t>
            </a:r>
            <a:endParaRPr lang="ko-KR" sz="1200"/>
          </a:p>
        </p:txBody>
      </p:sp>
      <p:sp>
        <p:nvSpPr>
          <p:cNvPr id="30" name="table-r3-c5"/>
          <p:cNvSpPr txBox="1"/>
          <p:nvPr/>
        </p:nvSpPr>
        <p:spPr>
          <a:xfrm>
            <a:off x="7829550" y="2571750"/>
            <a:ext cx="8572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/>
            </a:r>
            <a:endParaRPr lang="ko-KR" sz="1200"/>
          </a:p>
        </p:txBody>
      </p:sp>
      <p:sp>
        <p:nvSpPr>
          <p:cNvPr id="31" name="table-r3-c6"/>
          <p:cNvSpPr txBox="1"/>
          <p:nvPr/>
        </p:nvSpPr>
        <p:spPr>
          <a:xfrm>
            <a:off x="8686800" y="2571750"/>
            <a:ext cx="1428750" cy="514350"/>
          </a:xfrm>
          <a:prstGeom prst="rect">
            <a:avLst/>
          </a:prstGeom>
          <a:solidFill>
            <a:srgbClr val="6BA84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>완료</a:t>
            </a:r>
            <a:endParaRPr lang="ko-KR" sz="1200"/>
          </a:p>
        </p:txBody>
      </p:sp>
      <p:sp>
        <p:nvSpPr>
          <p:cNvPr id="32" name="table-r4-c0"/>
          <p:cNvSpPr txBox="1"/>
          <p:nvPr/>
        </p:nvSpPr>
        <p:spPr>
          <a:xfrm>
            <a:off x="685800" y="3086100"/>
            <a:ext cx="3429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>사운드/피드백</a:t>
            </a:r>
            <a:endParaRPr lang="ko-KR" sz="1200"/>
          </a:p>
        </p:txBody>
      </p:sp>
      <p:sp>
        <p:nvSpPr>
          <p:cNvPr id="33" name="table-r4-c1"/>
          <p:cNvSpPr txBox="1"/>
          <p:nvPr/>
        </p:nvSpPr>
        <p:spPr>
          <a:xfrm>
            <a:off x="4114800" y="3086100"/>
            <a:ext cx="1143000" cy="514350"/>
          </a:xfrm>
          <a:prstGeom prst="rect">
            <a:avLst/>
          </a:prstGeom>
          <a:solidFill>
            <a:srgbClr val="F3CE5A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>보통</a:t>
            </a:r>
            <a:endParaRPr lang="ko-KR" sz="1200"/>
          </a:p>
        </p:txBody>
      </p:sp>
      <p:sp>
        <p:nvSpPr>
          <p:cNvPr id="34" name="table-r4-c2"/>
          <p:cNvSpPr txBox="1"/>
          <p:nvPr/>
        </p:nvSpPr>
        <p:spPr>
          <a:xfrm>
            <a:off x="5257800" y="3086100"/>
            <a:ext cx="8572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/>
            </a:r>
            <a:endParaRPr lang="ko-KR" sz="1200"/>
          </a:p>
        </p:txBody>
      </p:sp>
      <p:sp>
        <p:nvSpPr>
          <p:cNvPr id="35" name="table-r4-c3"/>
          <p:cNvSpPr txBox="1"/>
          <p:nvPr/>
        </p:nvSpPr>
        <p:spPr>
          <a:xfrm>
            <a:off x="6115050" y="3086100"/>
            <a:ext cx="8572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/>
            </a:r>
            <a:endParaRPr lang="ko-KR" sz="1200"/>
          </a:p>
        </p:txBody>
      </p:sp>
      <p:sp>
        <p:nvSpPr>
          <p:cNvPr id="36" name="table-r4-c4"/>
          <p:cNvSpPr txBox="1"/>
          <p:nvPr/>
        </p:nvSpPr>
        <p:spPr>
          <a:xfrm>
            <a:off x="6972300" y="3086100"/>
            <a:ext cx="857250" cy="514350"/>
          </a:xfrm>
          <a:prstGeom prst="rect">
            <a:avLst/>
          </a:prstGeom>
          <a:solidFill>
            <a:srgbClr val="D94F4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FFFFFF"/>
                </a:solidFill>
                <a:latin typeface="Malgun Gothic"/>
                <a:ea typeface="Malgun Gothic"/>
              </a:rPr>
              <a:t>진행</a:t>
            </a:r>
            <a:endParaRPr lang="ko-KR" sz="1200"/>
          </a:p>
        </p:txBody>
      </p:sp>
      <p:sp>
        <p:nvSpPr>
          <p:cNvPr id="37" name="table-r4-c5"/>
          <p:cNvSpPr txBox="1"/>
          <p:nvPr/>
        </p:nvSpPr>
        <p:spPr>
          <a:xfrm>
            <a:off x="7829550" y="3086100"/>
            <a:ext cx="857250" cy="514350"/>
          </a:xfrm>
          <a:prstGeom prst="rect">
            <a:avLst/>
          </a:prstGeom>
          <a:solidFill>
            <a:srgbClr val="6BA84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>완료</a:t>
            </a:r>
            <a:endParaRPr lang="ko-KR" sz="1200"/>
          </a:p>
        </p:txBody>
      </p:sp>
      <p:sp>
        <p:nvSpPr>
          <p:cNvPr id="38" name="table-r4-c6"/>
          <p:cNvSpPr txBox="1"/>
          <p:nvPr/>
        </p:nvSpPr>
        <p:spPr>
          <a:xfrm>
            <a:off x="8686800" y="3086100"/>
            <a:ext cx="1428750" cy="514350"/>
          </a:xfrm>
          <a:prstGeom prst="rect">
            <a:avLst/>
          </a:prstGeom>
          <a:solidFill>
            <a:srgbClr val="6BA84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>완료</a:t>
            </a:r>
            <a:endParaRPr lang="ko-KR" sz="1200"/>
          </a:p>
        </p:txBody>
      </p:sp>
      <p:sp>
        <p:nvSpPr>
          <p:cNvPr id="39" name="table-r5-c0"/>
          <p:cNvSpPr txBox="1"/>
          <p:nvPr/>
        </p:nvSpPr>
        <p:spPr>
          <a:xfrm>
            <a:off x="685800" y="3600450"/>
            <a:ext cx="3429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>버그 수정/폴리싱</a:t>
            </a:r>
            <a:endParaRPr lang="ko-KR" sz="1200"/>
          </a:p>
        </p:txBody>
      </p:sp>
      <p:sp>
        <p:nvSpPr>
          <p:cNvPr id="40" name="table-r5-c1"/>
          <p:cNvSpPr txBox="1"/>
          <p:nvPr/>
        </p:nvSpPr>
        <p:spPr>
          <a:xfrm>
            <a:off x="4114800" y="3600450"/>
            <a:ext cx="1143000" cy="514350"/>
          </a:xfrm>
          <a:prstGeom prst="rect">
            <a:avLst/>
          </a:prstGeom>
          <a:solidFill>
            <a:srgbClr val="F2A541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>높음</a:t>
            </a:r>
            <a:endParaRPr lang="ko-KR" sz="1200"/>
          </a:p>
        </p:txBody>
      </p:sp>
      <p:sp>
        <p:nvSpPr>
          <p:cNvPr id="41" name="table-r5-c2"/>
          <p:cNvSpPr txBox="1"/>
          <p:nvPr/>
        </p:nvSpPr>
        <p:spPr>
          <a:xfrm>
            <a:off x="5257800" y="3600450"/>
            <a:ext cx="8572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/>
            </a:r>
            <a:endParaRPr lang="ko-KR" sz="1200"/>
          </a:p>
        </p:txBody>
      </p:sp>
      <p:sp>
        <p:nvSpPr>
          <p:cNvPr id="42" name="table-r5-c3"/>
          <p:cNvSpPr txBox="1"/>
          <p:nvPr/>
        </p:nvSpPr>
        <p:spPr>
          <a:xfrm>
            <a:off x="6115050" y="3600450"/>
            <a:ext cx="8572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/>
            </a:r>
            <a:endParaRPr lang="ko-KR" sz="1200"/>
          </a:p>
        </p:txBody>
      </p:sp>
      <p:sp>
        <p:nvSpPr>
          <p:cNvPr id="43" name="table-r5-c4"/>
          <p:cNvSpPr txBox="1"/>
          <p:nvPr/>
        </p:nvSpPr>
        <p:spPr>
          <a:xfrm>
            <a:off x="6972300" y="3600450"/>
            <a:ext cx="857250" cy="514350"/>
          </a:xfrm>
          <a:prstGeom prst="rect">
            <a:avLst/>
          </a:prstGeom>
          <a:solidFill>
            <a:srgbClr val="D94F4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FFFFFF"/>
                </a:solidFill>
                <a:latin typeface="Malgun Gothic"/>
                <a:ea typeface="Malgun Gothic"/>
              </a:rPr>
              <a:t>진행</a:t>
            </a:r>
            <a:endParaRPr lang="ko-KR" sz="1200"/>
          </a:p>
        </p:txBody>
      </p:sp>
      <p:sp>
        <p:nvSpPr>
          <p:cNvPr id="44" name="table-r5-c5"/>
          <p:cNvSpPr txBox="1"/>
          <p:nvPr/>
        </p:nvSpPr>
        <p:spPr>
          <a:xfrm>
            <a:off x="7829550" y="3600450"/>
            <a:ext cx="857250" cy="514350"/>
          </a:xfrm>
          <a:prstGeom prst="rect">
            <a:avLst/>
          </a:prstGeom>
          <a:solidFill>
            <a:srgbClr val="D94F4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FFFFFF"/>
                </a:solidFill>
                <a:latin typeface="Malgun Gothic"/>
                <a:ea typeface="Malgun Gothic"/>
              </a:rPr>
              <a:t>진행</a:t>
            </a:r>
            <a:endParaRPr lang="ko-KR" sz="1200"/>
          </a:p>
        </p:txBody>
      </p:sp>
      <p:sp>
        <p:nvSpPr>
          <p:cNvPr id="45" name="table-r5-c6"/>
          <p:cNvSpPr txBox="1"/>
          <p:nvPr/>
        </p:nvSpPr>
        <p:spPr>
          <a:xfrm>
            <a:off x="8686800" y="3600450"/>
            <a:ext cx="1428750" cy="514350"/>
          </a:xfrm>
          <a:prstGeom prst="rect">
            <a:avLst/>
          </a:prstGeom>
          <a:solidFill>
            <a:srgbClr val="3D7FD6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FFFFFF"/>
                </a:solidFill>
                <a:latin typeface="Malgun Gothic"/>
                <a:ea typeface="Malgun Gothic"/>
              </a:rPr>
              <a:t>개선</a:t>
            </a:r>
            <a:endParaRPr lang="ko-KR" sz="1200"/>
          </a:p>
        </p:txBody>
      </p:sp>
      <p:sp>
        <p:nvSpPr>
          <p:cNvPr id="46" name="table-r6-c0"/>
          <p:cNvSpPr txBox="1"/>
          <p:nvPr/>
        </p:nvSpPr>
        <p:spPr>
          <a:xfrm>
            <a:off x="685800" y="4114800"/>
            <a:ext cx="3429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>빌드/발표 준비</a:t>
            </a:r>
            <a:endParaRPr lang="ko-KR" sz="1200"/>
          </a:p>
        </p:txBody>
      </p:sp>
      <p:sp>
        <p:nvSpPr>
          <p:cNvPr id="47" name="table-r6-c1"/>
          <p:cNvSpPr txBox="1"/>
          <p:nvPr/>
        </p:nvSpPr>
        <p:spPr>
          <a:xfrm>
            <a:off x="4114800" y="4114800"/>
            <a:ext cx="1143000" cy="514350"/>
          </a:xfrm>
          <a:prstGeom prst="rect">
            <a:avLst/>
          </a:prstGeom>
          <a:solidFill>
            <a:srgbClr val="F3CE5A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>보통</a:t>
            </a:r>
            <a:endParaRPr lang="ko-KR" sz="1200"/>
          </a:p>
        </p:txBody>
      </p:sp>
      <p:sp>
        <p:nvSpPr>
          <p:cNvPr id="48" name="table-r6-c2"/>
          <p:cNvSpPr txBox="1"/>
          <p:nvPr/>
        </p:nvSpPr>
        <p:spPr>
          <a:xfrm>
            <a:off x="5257800" y="4114800"/>
            <a:ext cx="8572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/>
            </a:r>
            <a:endParaRPr lang="ko-KR" sz="1200"/>
          </a:p>
        </p:txBody>
      </p:sp>
      <p:sp>
        <p:nvSpPr>
          <p:cNvPr id="49" name="table-r6-c3"/>
          <p:cNvSpPr txBox="1"/>
          <p:nvPr/>
        </p:nvSpPr>
        <p:spPr>
          <a:xfrm>
            <a:off x="6115050" y="4114800"/>
            <a:ext cx="8572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/>
            </a:r>
            <a:endParaRPr lang="ko-KR" sz="1200"/>
          </a:p>
        </p:txBody>
      </p:sp>
      <p:sp>
        <p:nvSpPr>
          <p:cNvPr id="50" name="table-r6-c4"/>
          <p:cNvSpPr txBox="1"/>
          <p:nvPr/>
        </p:nvSpPr>
        <p:spPr>
          <a:xfrm>
            <a:off x="6972300" y="4114800"/>
            <a:ext cx="8572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/>
            </a:r>
            <a:endParaRPr lang="ko-KR" sz="1200"/>
          </a:p>
        </p:txBody>
      </p:sp>
      <p:sp>
        <p:nvSpPr>
          <p:cNvPr id="51" name="table-r6-c5"/>
          <p:cNvSpPr txBox="1"/>
          <p:nvPr/>
        </p:nvSpPr>
        <p:spPr>
          <a:xfrm>
            <a:off x="7829550" y="4114800"/>
            <a:ext cx="857250" cy="514350"/>
          </a:xfrm>
          <a:prstGeom prst="rect">
            <a:avLst/>
          </a:prstGeom>
          <a:solidFill>
            <a:srgbClr val="6BA84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>완료</a:t>
            </a:r>
            <a:endParaRPr lang="ko-KR" sz="1200"/>
          </a:p>
        </p:txBody>
      </p:sp>
      <p:sp>
        <p:nvSpPr>
          <p:cNvPr id="52" name="table-r6-c6"/>
          <p:cNvSpPr txBox="1"/>
          <p:nvPr/>
        </p:nvSpPr>
        <p:spPr>
          <a:xfrm>
            <a:off x="8686800" y="4114800"/>
            <a:ext cx="1428750" cy="514350"/>
          </a:xfrm>
          <a:prstGeom prst="rect">
            <a:avLst/>
          </a:prstGeom>
          <a:solidFill>
            <a:srgbClr val="6BA84F"/>
          </a:solidFill>
          <a:ln w="7620">
            <a:solidFill>
              <a:srgbClr val="AFA99E"/>
            </a:solidFill>
          </a:ln>
        </p:spPr>
        <p:txBody>
          <a:bodyPr wrap="square" anchor="ctr" lIns="28575" rIns="28575" tIns="28575" bIns="28575">
            <a:spAutoFit/>
          </a:bodyPr>
          <a:lstStyle/>
          <a:p>
            <a:pPr algn="c"/>
            <a:r>
              <a:rPr lang="ko-KR" sz="1200">
                <a:solidFill>
                  <a:srgbClr val="111111"/>
                </a:solidFill>
                <a:latin typeface="Malgun Gothic"/>
                <a:ea typeface="Malgun Gothic"/>
              </a:rPr>
              <a:t>완료</a:t>
            </a:r>
            <a:endParaRPr lang="ko-KR" sz="1200"/>
          </a:p>
        </p:txBody>
      </p:sp>
      <p:sp>
        <p:nvSpPr>
          <p:cNvPr id="53" name="schedule-caption"/>
          <p:cNvSpPr txBox="1"/>
          <p:nvPr/>
        </p:nvSpPr>
        <p:spPr>
          <a:xfrm>
            <a:off x="685800" y="5143500"/>
            <a:ext cx="923925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800">
                <a:solidFill>
                  <a:srgbClr val="5F5F5F"/>
                </a:solidFill>
                <a:latin typeface="Malgun Gothic"/>
                <a:ea typeface="Malgun Gothic"/>
              </a:rPr>
              <a:t>작성 팁: 실제 일정표를 그대로 붙이기보다, 본인이 관리한 이슈와 의사소통 방식이 드러나는 핵심 항목만 남기세요.</a:t>
            </a:r>
            <a:endParaRPr lang="ko-KR" sz="1800"/>
          </a:p>
        </p:txBody>
      </p:sp>
      <p:sp>
        <p:nvSpPr>
          <p:cNvPr id="54" name="footer-role"/>
          <p:cNvSpPr txBox="1"/>
          <p:nvPr/>
        </p:nvSpPr>
        <p:spPr>
          <a:xfrm>
            <a:off x="609600" y="6419850"/>
            <a:ext cx="2476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900" b="1">
                <a:solidFill>
                  <a:srgbClr val="5F5F5F"/>
                </a:solidFill>
                <a:latin typeface="Malgun Gothic"/>
                <a:ea typeface="Malgun Gothic"/>
              </a:rPr>
              <a:t>CLIENT DEVELOPER PORTFOLIO</a:t>
            </a:r>
            <a:endParaRPr lang="ko-KR" sz="900"/>
          </a:p>
        </p:txBody>
      </p:sp>
      <p:sp>
        <p:nvSpPr>
          <p:cNvPr id="55" name="footer-page"/>
          <p:cNvSpPr txBox="1"/>
          <p:nvPr/>
        </p:nvSpPr>
        <p:spPr>
          <a:xfrm>
            <a:off x="11049000" y="6419850"/>
            <a:ext cx="5334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/>
            <a:r>
              <a:rPr lang="ko-KR" sz="1000" b="1">
                <a:solidFill>
                  <a:srgbClr val="5F5F5F"/>
                </a:solidFill>
                <a:latin typeface="Malgun Gothic"/>
                <a:ea typeface="Malgun Gothic"/>
              </a:rPr>
              <a:t>09</a:t>
            </a:r>
            <a:endParaRPr lang="ko-KR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609600" y="476250"/>
            <a:ext cx="2476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600" b="1">
                <a:solidFill>
                  <a:srgbClr val="111111"/>
                </a:solidFill>
                <a:latin typeface="Malgun Gothic"/>
                <a:ea typeface="Malgun Gothic"/>
              </a:rPr>
              <a:t>Wrap-up</a:t>
            </a:r>
            <a:endParaRPr lang="ko-KR" sz="1600"/>
          </a:p>
        </p:txBody>
      </p:sp>
      <p:sp>
        <p:nvSpPr>
          <p:cNvPr id="3" name="title"/>
          <p:cNvSpPr txBox="1"/>
          <p:nvPr/>
        </p:nvSpPr>
        <p:spPr>
          <a:xfrm>
            <a:off x="609600" y="819150"/>
            <a:ext cx="6477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4000" b="1">
                <a:solidFill>
                  <a:srgbClr val="111111"/>
                </a:solidFill>
                <a:latin typeface="Malgun Gothic"/>
                <a:ea typeface="Malgun Gothic"/>
              </a:rPr>
              <a:t>면접관이 기억할 한 줄로 끝내기</a:t>
            </a:r>
            <a:endParaRPr lang="ko-KR" sz="4000"/>
          </a:p>
        </p:txBody>
      </p:sp>
      <p:sp>
        <p:nvSpPr>
          <p:cNvPr id="4" name="rule"/>
          <p:cNvSpPr/>
          <p:nvPr/>
        </p:nvSpPr>
        <p:spPr>
          <a:xfrm>
            <a:off x="609600" y="1466850"/>
            <a:ext cx="1219200" cy="38100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  <p:sp>
        <p:nvSpPr>
          <p:cNvPr id="5" name="footer-role"/>
          <p:cNvSpPr txBox="1"/>
          <p:nvPr/>
        </p:nvSpPr>
        <p:spPr>
          <a:xfrm>
            <a:off x="609600" y="6419850"/>
            <a:ext cx="2476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900" b="1">
                <a:solidFill>
                  <a:srgbClr val="5F5F5F"/>
                </a:solidFill>
                <a:latin typeface="Malgun Gothic"/>
                <a:ea typeface="Malgun Gothic"/>
              </a:rPr>
              <a:t>CLIENT DEVELOPER PORTFOLIO</a:t>
            </a:r>
            <a:endParaRPr lang="ko-KR" sz="900"/>
          </a:p>
        </p:txBody>
      </p:sp>
      <p:sp>
        <p:nvSpPr>
          <p:cNvPr id="6" name="footer-page"/>
          <p:cNvSpPr txBox="1"/>
          <p:nvPr/>
        </p:nvSpPr>
        <p:spPr>
          <a:xfrm>
            <a:off x="11049000" y="6419850"/>
            <a:ext cx="5334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/>
            <a:r>
              <a:rPr lang="ko-KR" sz="1000" b="1">
                <a:solidFill>
                  <a:srgbClr val="5F5F5F"/>
                </a:solidFill>
                <a:latin typeface="Malgun Gothic"/>
                <a:ea typeface="Malgun Gothic"/>
              </a:rPr>
              <a:t>10</a:t>
            </a:r>
            <a:endParaRPr lang="ko-KR" sz="1000"/>
          </a:p>
        </p:txBody>
      </p:sp>
      <p:sp>
        <p:nvSpPr>
          <p:cNvPr id="7" name="closing-statement"/>
          <p:cNvSpPr txBox="1"/>
          <p:nvPr/>
        </p:nvSpPr>
        <p:spPr>
          <a:xfrm>
            <a:off x="1066800" y="1981200"/>
            <a:ext cx="60960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3000" b="1">
                <a:solidFill>
                  <a:srgbClr val="111111"/>
                </a:solidFill>
                <a:latin typeface="Malgun Gothic"/>
                <a:ea typeface="Malgun Gothic"/>
              </a:rPr>
              <a:t>저는 [핵심 강점]을 바탕으로</a:t>
            </a:r>
            <a:endParaRPr lang="ko-KR" sz="3000"/>
          </a:p>
          <a:p>
            <a:pPr algn="l"/>
            <a:r>
              <a:rPr lang="ko-KR" sz="3000" b="1">
                <a:solidFill>
                  <a:srgbClr val="111111"/>
                </a:solidFill>
                <a:latin typeface="Malgun Gothic"/>
                <a:ea typeface="Malgun Gothic"/>
              </a:rPr>
              <a:t>[지원 회사/프로젝트]의 클라이언트 완성도에 기여하겠습니다.</a:t>
            </a:r>
            <a:endParaRPr lang="ko-KR" sz="3000"/>
          </a:p>
        </p:txBody>
      </p:sp>
      <p:sp>
        <p:nvSpPr>
          <p:cNvPr id="8" name="card-바로 보여줄 것"/>
          <p:cNvSpPr/>
          <p:nvPr/>
        </p:nvSpPr>
        <p:spPr>
          <a:xfrm>
            <a:off x="1066800" y="3371850"/>
            <a:ext cx="2781300" cy="12573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2C5"/>
            </a:solidFill>
          </a:ln>
        </p:spPr>
      </p:sp>
      <p:sp>
        <p:nvSpPr>
          <p:cNvPr id="9" name="card-index-바로 보여줄 것"/>
          <p:cNvSpPr txBox="1"/>
          <p:nvPr/>
        </p:nvSpPr>
        <p:spPr>
          <a:xfrm>
            <a:off x="1276350" y="3562350"/>
            <a:ext cx="5143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800" b="1">
                <a:solidFill>
                  <a:srgbClr val="0E5AA7"/>
                </a:solidFill>
                <a:latin typeface="Malgun Gothic"/>
                <a:ea typeface="Malgun Gothic"/>
              </a:rPr>
              <a:t>01</a:t>
            </a:r>
            <a:endParaRPr lang="ko-KR" sz="1800"/>
          </a:p>
        </p:txBody>
      </p:sp>
      <p:sp>
        <p:nvSpPr>
          <p:cNvPr id="10" name="card-heading-바로 보여줄 것"/>
          <p:cNvSpPr txBox="1"/>
          <p:nvPr/>
        </p:nvSpPr>
        <p:spPr>
          <a:xfrm>
            <a:off x="1790700" y="3562350"/>
            <a:ext cx="18478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2000" b="1">
                <a:solidFill>
                  <a:srgbClr val="111111"/>
                </a:solidFill>
                <a:latin typeface="Malgun Gothic"/>
                <a:ea typeface="Malgun Gothic"/>
              </a:rPr>
              <a:t>바로 보여줄 것</a:t>
            </a:r>
            <a:endParaRPr lang="ko-KR" sz="2000"/>
          </a:p>
        </p:txBody>
      </p:sp>
      <p:sp>
        <p:nvSpPr>
          <p:cNvPr id="11" name="card-body-바로 보여줄 것"/>
          <p:cNvSpPr txBox="1"/>
          <p:nvPr/>
        </p:nvSpPr>
        <p:spPr>
          <a:xfrm>
            <a:off x="1276350" y="398145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플레이 영상, 실행 빌드, 핵심 코드 링크</a:t>
            </a:r>
            <a:endParaRPr lang="ko-KR" sz="1500"/>
          </a:p>
        </p:txBody>
      </p:sp>
      <p:sp>
        <p:nvSpPr>
          <p:cNvPr id="12" name="card-바로 설명할 것"/>
          <p:cNvSpPr/>
          <p:nvPr/>
        </p:nvSpPr>
        <p:spPr>
          <a:xfrm>
            <a:off x="4229100" y="3371850"/>
            <a:ext cx="2781300" cy="12573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2C5"/>
            </a:solidFill>
          </a:ln>
        </p:spPr>
      </p:sp>
      <p:sp>
        <p:nvSpPr>
          <p:cNvPr id="13" name="card-index-바로 설명할 것"/>
          <p:cNvSpPr txBox="1"/>
          <p:nvPr/>
        </p:nvSpPr>
        <p:spPr>
          <a:xfrm>
            <a:off x="4438650" y="3562350"/>
            <a:ext cx="5143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800" b="1">
                <a:solidFill>
                  <a:srgbClr val="0E5AA7"/>
                </a:solidFill>
                <a:latin typeface="Malgun Gothic"/>
                <a:ea typeface="Malgun Gothic"/>
              </a:rPr>
              <a:t>02</a:t>
            </a:r>
            <a:endParaRPr lang="ko-KR" sz="1800"/>
          </a:p>
        </p:txBody>
      </p:sp>
      <p:sp>
        <p:nvSpPr>
          <p:cNvPr id="14" name="card-heading-바로 설명할 것"/>
          <p:cNvSpPr txBox="1"/>
          <p:nvPr/>
        </p:nvSpPr>
        <p:spPr>
          <a:xfrm>
            <a:off x="4953000" y="3562350"/>
            <a:ext cx="18478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2000" b="1">
                <a:solidFill>
                  <a:srgbClr val="111111"/>
                </a:solidFill>
                <a:latin typeface="Malgun Gothic"/>
                <a:ea typeface="Malgun Gothic"/>
              </a:rPr>
              <a:t>바로 설명할 것</a:t>
            </a:r>
            <a:endParaRPr lang="ko-KR" sz="2000"/>
          </a:p>
        </p:txBody>
      </p:sp>
      <p:sp>
        <p:nvSpPr>
          <p:cNvPr id="15" name="card-body-바로 설명할 것"/>
          <p:cNvSpPr txBox="1"/>
          <p:nvPr/>
        </p:nvSpPr>
        <p:spPr>
          <a:xfrm>
            <a:off x="4438650" y="398145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문제, 선택한 구현, 결과, 트레이드오프</a:t>
            </a:r>
            <a:endParaRPr lang="ko-KR" sz="1500"/>
          </a:p>
        </p:txBody>
      </p:sp>
      <p:sp>
        <p:nvSpPr>
          <p:cNvPr id="16" name="card-바로 답할 것"/>
          <p:cNvSpPr/>
          <p:nvPr/>
        </p:nvSpPr>
        <p:spPr>
          <a:xfrm>
            <a:off x="7391400" y="3371850"/>
            <a:ext cx="2781300" cy="12573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2C5"/>
            </a:solidFill>
          </a:ln>
        </p:spPr>
      </p:sp>
      <p:sp>
        <p:nvSpPr>
          <p:cNvPr id="17" name="card-index-바로 답할 것"/>
          <p:cNvSpPr txBox="1"/>
          <p:nvPr/>
        </p:nvSpPr>
        <p:spPr>
          <a:xfrm>
            <a:off x="7600950" y="3562350"/>
            <a:ext cx="5143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800" b="1">
                <a:solidFill>
                  <a:srgbClr val="0E5AA7"/>
                </a:solidFill>
                <a:latin typeface="Malgun Gothic"/>
                <a:ea typeface="Malgun Gothic"/>
              </a:rPr>
              <a:t>03</a:t>
            </a:r>
            <a:endParaRPr lang="ko-KR" sz="1800"/>
          </a:p>
        </p:txBody>
      </p:sp>
      <p:sp>
        <p:nvSpPr>
          <p:cNvPr id="18" name="card-heading-바로 답할 것"/>
          <p:cNvSpPr txBox="1"/>
          <p:nvPr/>
        </p:nvSpPr>
        <p:spPr>
          <a:xfrm>
            <a:off x="8115300" y="3562350"/>
            <a:ext cx="18478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2000" b="1">
                <a:solidFill>
                  <a:srgbClr val="111111"/>
                </a:solidFill>
                <a:latin typeface="Malgun Gothic"/>
                <a:ea typeface="Malgun Gothic"/>
              </a:rPr>
              <a:t>바로 답할 것</a:t>
            </a:r>
            <a:endParaRPr lang="ko-KR" sz="2000"/>
          </a:p>
        </p:txBody>
      </p:sp>
      <p:sp>
        <p:nvSpPr>
          <p:cNvPr id="19" name="card-body-바로 답할 것"/>
          <p:cNvSpPr txBox="1"/>
          <p:nvPr/>
        </p:nvSpPr>
        <p:spPr>
          <a:xfrm>
            <a:off x="7600950" y="398145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500">
                <a:solidFill>
                  <a:srgbClr val="5F5F5F"/>
                </a:solidFill>
                <a:latin typeface="Malgun Gothic"/>
                <a:ea typeface="Malgun Gothic"/>
              </a:rPr>
              <a:t>내 담당 범위, 협업 방식, 개선 계획</a:t>
            </a:r>
            <a:endParaRPr lang="ko-KR" sz="1500"/>
          </a:p>
        </p:txBody>
      </p:sp>
      <p:sp>
        <p:nvSpPr>
          <p:cNvPr id="20" name="closing-links"/>
          <p:cNvSpPr txBox="1"/>
          <p:nvPr/>
        </p:nvSpPr>
        <p:spPr>
          <a:xfrm>
            <a:off x="1066800" y="5257800"/>
            <a:ext cx="77152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/>
            <a:r>
              <a:rPr lang="ko-KR" sz="1800" b="1" u="sng">
                <a:solidFill>
                  <a:srgbClr val="0E5AA7"/>
                </a:solidFill>
                <a:latin typeface="Malgun Gothic"/>
                <a:ea typeface="Malgun Gothic"/>
              </a:rPr>
              <a:t>GitHub  [github.com/id]    Portfolio  [url]    Email  [email@example.com]</a:t>
            </a:r>
            <a:endParaRPr lang="ko-KR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ient Developer Portfolio">
  <a:themeElements>
    <a:clrScheme name="Portfolio">
      <a:dk1>
        <a:srgbClr val="111111"/>
      </a:dk1>
      <a:lt1>
        <a:srgbClr val="F7F4ED"/>
      </a:lt1>
      <a:dk2>
        <a:srgbClr val="5F5F5F"/>
      </a:dk2>
      <a:lt2>
        <a:srgbClr val="FFFFFF"/>
      </a:lt2>
      <a:accent1>
        <a:srgbClr val="0E5AA7"/>
      </a:accent1>
      <a:accent2>
        <a:srgbClr val="2E6A2D"/>
      </a:accent2>
      <a:accent3>
        <a:srgbClr val="F2A541"/>
      </a:accent3>
      <a:accent4>
        <a:srgbClr val="D94F4F"/>
      </a:accent4>
      <a:accent5>
        <a:srgbClr val="F3CE5A"/>
      </a:accent5>
      <a:accent6>
        <a:srgbClr val="3D7FD6"/>
      </a:accent6>
      <a:hlink>
        <a:srgbClr val="0E5AA7"/>
      </a:hlink>
      <a:folHlink>
        <a:srgbClr val="6A4C93"/>
      </a:folHlink>
    </a:clrScheme>
    <a:fontScheme name="Malgun Gothic">
      <a:majorFont>
        <a:latin typeface="Malgun Gothic"/>
        <a:ea typeface="Malgun Gothic"/>
        <a:cs typeface="Malgun Gothic"/>
      </a:majorFont>
      <a:minorFont>
        <a:latin typeface="Malgun Gothic"/>
        <a:ea typeface="Malgun Gothic"/>
        <a:cs typeface="Malgun Gothic"/>
      </a:minorFont>
    </a:fontScheme>
    <a:fmtScheme name="Portfolio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10</Slides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클라이언트 개발자 포트폴리오 기본템플릿</dc:title>
  <dc:creator>Codex</dc:creator>
  <cp:lastModifiedBy>Codex</cp:lastModifiedBy>
  <dcterms:created xsi:type="dcterms:W3CDTF">2026-08-29T06:13:11Z</dcterms:created>
  <dcterms:modified xsi:type="dcterms:W3CDTF">2026-08-29T06:13:11Z</dcterms:modified>
</cp:coreProperties>
</file>